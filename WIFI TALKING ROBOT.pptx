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3"/>
    <p:sldId id="257" r:id="rId4"/>
    <p:sldId id="258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5" r:id="rId15"/>
    <p:sldId id="270" r:id="rId16"/>
    <p:sldId id="271" r:id="rId18"/>
    <p:sldId id="273" r:id="rId19"/>
    <p:sldId id="276" r:id="rId20"/>
  </p:sldIdLst>
  <p:sldSz cx="12192000" cy="6858000"/>
  <p:notesSz cx="6858000" cy="9144000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5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7445" y="1366520"/>
            <a:ext cx="9196070" cy="1272540"/>
          </a:xfrm>
        </p:spPr>
        <p:txBody>
          <a:bodyPr/>
          <a:lstStyle/>
          <a:p>
            <a:r>
              <a:rPr lang="en-GB" altLang="en-US" sz="6000" b="1" dirty="0">
                <a:ln/>
                <a:solidFill>
                  <a:schemeClr val="accent5">
                    <a:lumMod val="50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askerville Old Face" panose="02020602080505020303" charset="0"/>
                <a:cs typeface="Baskerville Old Face" panose="02020602080505020303" charset="0"/>
              </a:rPr>
              <a:t>WIFI TALKING ROBOT</a:t>
            </a:r>
            <a:endParaRPr lang="en-GB" altLang="en-US" sz="6000" b="1" dirty="0">
              <a:ln/>
              <a:solidFill>
                <a:schemeClr val="accent5">
                  <a:lumMod val="50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askerville Old Face" panose="02020602080505020303" charset="0"/>
              <a:cs typeface="Baskerville Old Face" panose="02020602080505020303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275455" y="2769235"/>
            <a:ext cx="7545070" cy="1693545"/>
          </a:xfrm>
        </p:spPr>
        <p:txBody>
          <a:bodyPr/>
          <a:lstStyle/>
          <a:p>
            <a:pPr algn="r"/>
            <a:r>
              <a:rPr lang="en-GB" altLang="en-US" sz="24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T</a:t>
            </a:r>
            <a:r>
              <a:rPr lang="en-US" altLang="en-GB" sz="24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he Wi-Fi talking robot is a new technologic</a:t>
            </a:r>
            <a:r>
              <a:rPr lang="en-GB" altLang="en-US" sz="24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endParaRPr lang="en-GB" altLang="en-US" sz="2400" b="1">
              <a:solidFill>
                <a:schemeClr val="accent4">
                  <a:lumMod val="75000"/>
                  <a:lumOff val="25000"/>
                </a:schemeClr>
              </a:solidFill>
            </a:endParaRPr>
          </a:p>
          <a:p>
            <a:pPr algn="r"/>
            <a:r>
              <a:rPr lang="en-US" altLang="en-GB" sz="24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advancement in the field of robotics.This robotic</a:t>
            </a:r>
            <a:r>
              <a:rPr lang="en-GB" altLang="en-US" sz="24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en-GB" sz="24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sy</a:t>
            </a:r>
            <a:r>
              <a:rPr lang="en-GB" altLang="en-US" sz="24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stem </a:t>
            </a:r>
            <a:r>
              <a:rPr lang="en-US" altLang="en-GB" sz="24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capability t</a:t>
            </a:r>
            <a:r>
              <a:rPr lang="en-GB" altLang="en-US" sz="24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o </a:t>
            </a:r>
            <a:r>
              <a:rPr lang="en-US" altLang="en-GB" sz="2400" b="1">
                <a:solidFill>
                  <a:schemeClr val="accent4">
                    <a:lumMod val="75000"/>
                    <a:lumOff val="25000"/>
                  </a:schemeClr>
                </a:solidFill>
              </a:rPr>
              <a:t>connect to the internet through a Wi-Fi network and interact with users</a:t>
            </a:r>
            <a:r>
              <a:rPr lang="en-US" altLang="en-GB" sz="2400">
                <a:solidFill>
                  <a:schemeClr val="accent4">
                    <a:lumMod val="75000"/>
                    <a:lumOff val="25000"/>
                  </a:schemeClr>
                </a:solidFill>
              </a:rPr>
              <a:t> </a:t>
            </a:r>
            <a:endParaRPr lang="en-US" altLang="en-GB">
              <a:solidFill>
                <a:schemeClr val="accent4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OBJECTIVE OF WIFI TALKING ROBOT:</a:t>
            </a:r>
            <a:endParaRPr lang="en-GB" altLang="en-US" b="1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pPr marL="0" indent="0" algn="l">
              <a:lnSpc>
                <a:spcPct val="90000"/>
              </a:lnSpc>
              <a:buNone/>
            </a:pPr>
            <a:r>
              <a:rPr lang="en-US" altLang="en-GB" sz="2400"/>
              <a:t> </a:t>
            </a:r>
            <a:endParaRPr lang="en-US" altLang="en-GB" sz="240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753745" y="1682115"/>
            <a:ext cx="5244465" cy="4507865"/>
          </a:xfrm>
        </p:spPr>
        <p:txBody>
          <a:bodyPr/>
          <a:p>
            <a:pPr marL="0" indent="0" algn="l">
              <a:lnSpc>
                <a:spcPct val="100000"/>
              </a:lnSpc>
              <a:buNone/>
            </a:pPr>
            <a:r>
              <a:rPr lang="en-GB" altLang="en-US" sz="2400">
                <a:sym typeface="+mn-ea"/>
              </a:rPr>
              <a:t>   </a:t>
            </a:r>
            <a:r>
              <a:rPr lang="en-US" altLang="en-GB" sz="2400">
                <a:sym typeface="+mn-ea"/>
              </a:rPr>
              <a:t>The primary aim of a Wi-Fi talking robot project is to create a robotic system that can interact with users</a:t>
            </a:r>
            <a:r>
              <a:rPr lang="en-GB" altLang="en-US" sz="2400">
                <a:sym typeface="+mn-ea"/>
              </a:rPr>
              <a:t> </a:t>
            </a:r>
            <a:r>
              <a:rPr lang="en-US" altLang="en-GB" sz="2400">
                <a:sym typeface="+mn-ea"/>
              </a:rPr>
              <a:t>through speech and be remotely controlled via Wi-Fi, demonstrating practical applications in areas like home automation, customer service, and education.</a:t>
            </a:r>
            <a:endParaRPr lang="en-US" altLang="en-GB" sz="2400">
              <a:sym typeface="+mn-ea"/>
            </a:endParaRPr>
          </a:p>
          <a:p>
            <a:pPr marL="0" indent="0" algn="l">
              <a:lnSpc>
                <a:spcPct val="100000"/>
              </a:lnSpc>
              <a:buNone/>
            </a:pPr>
            <a:r>
              <a:rPr lang="en-GB" altLang="en-US" sz="2400"/>
              <a:t>                  </a:t>
            </a:r>
            <a:r>
              <a:rPr lang="en-US" altLang="en-GB" sz="2400"/>
              <a:t>This type of robot allows users to control its movements and sometimes even gather data through a user interface on a smartphone</a:t>
            </a:r>
            <a:endParaRPr lang="en-US" altLang="en-GB" sz="240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3"/>
          </p:nvPr>
        </p:nvSpPr>
        <p:spPr>
          <a:xfrm>
            <a:off x="6172200" y="5495925"/>
            <a:ext cx="5183505" cy="560070"/>
          </a:xfrm>
        </p:spPr>
        <p:txBody>
          <a:bodyPr/>
          <a:p>
            <a:endParaRPr lang="en-GB" altLang="en-US"/>
          </a:p>
        </p:txBody>
      </p:sp>
      <p:pic>
        <p:nvPicPr>
          <p:cNvPr id="8" name="Content Placeholder 7" descr="download"/>
          <p:cNvPicPr>
            <a:picLocks noChangeAspect="1"/>
          </p:cNvPicPr>
          <p:nvPr>
            <p:ph sz="quarter" idx="4"/>
          </p:nvPr>
        </p:nvPicPr>
        <p:blipFill>
          <a:blip r:embed="rId1"/>
          <a:stretch>
            <a:fillRect/>
          </a:stretch>
        </p:blipFill>
        <p:spPr>
          <a:xfrm>
            <a:off x="6275070" y="1741170"/>
            <a:ext cx="5283200" cy="43141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                            </a:t>
            </a:r>
            <a:r>
              <a:rPr lang="en-GB" altLang="en-US" b="1">
                <a:solidFill>
                  <a:schemeClr val="accent6"/>
                </a:solidFill>
              </a:rPr>
              <a:t> </a:t>
            </a:r>
            <a:r>
              <a:rPr lang="en-GB" altLang="en-US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COMPONENTS</a:t>
            </a:r>
            <a:r>
              <a:rPr lang="en-GB" altLang="en-US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</a:t>
            </a:r>
            <a:endParaRPr lang="en-GB" altLang="en-US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523240" y="1451610"/>
            <a:ext cx="10972800" cy="4953000"/>
          </a:xfrm>
        </p:spPr>
        <p:txBody>
          <a:bodyPr/>
          <a:p>
            <a:endParaRPr lang="en-GB" altLang="en-US"/>
          </a:p>
        </p:txBody>
      </p:sp>
      <p:cxnSp>
        <p:nvCxnSpPr>
          <p:cNvPr id="11" name="直接连接符 10"/>
          <p:cNvCxnSpPr/>
          <p:nvPr>
            <p:custDataLst>
              <p:tags r:id="rId1"/>
            </p:custDataLst>
          </p:nvPr>
        </p:nvCxnSpPr>
        <p:spPr>
          <a:xfrm flipH="1">
            <a:off x="3617595" y="5272405"/>
            <a:ext cx="975360" cy="1905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>
            <p:custDataLst>
              <p:tags r:id="rId2"/>
            </p:custDataLst>
          </p:nvPr>
        </p:nvCxnSpPr>
        <p:spPr>
          <a:xfrm flipH="1">
            <a:off x="3617596" y="3392805"/>
            <a:ext cx="1548000" cy="0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3"/>
            </p:custDataLst>
          </p:nvPr>
        </p:nvCxnSpPr>
        <p:spPr>
          <a:xfrm flipV="1">
            <a:off x="7573011" y="4250055"/>
            <a:ext cx="1003935" cy="1588"/>
          </a:xfrm>
          <a:prstGeom prst="line">
            <a:avLst/>
          </a:prstGeom>
          <a:ln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2"/>
          <p:cNvSpPr/>
          <p:nvPr>
            <p:custDataLst>
              <p:tags r:id="rId4"/>
            </p:custDataLst>
          </p:nvPr>
        </p:nvSpPr>
        <p:spPr>
          <a:xfrm>
            <a:off x="695325" y="2444115"/>
            <a:ext cx="2713990" cy="7200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GB" altLang="en-US" sz="2000" b="1">
                <a:solidFill>
                  <a:schemeClr val="accent1"/>
                </a:solidFill>
                <a:latin typeface="+mj-lt"/>
              </a:rPr>
              <a:t>NODEMCU</a:t>
            </a:r>
            <a:endParaRPr lang="en-GB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0" name="矩形 3"/>
          <p:cNvSpPr/>
          <p:nvPr>
            <p:custDataLst>
              <p:tags r:id="rId5"/>
            </p:custDataLst>
          </p:nvPr>
        </p:nvSpPr>
        <p:spPr>
          <a:xfrm>
            <a:off x="695325" y="3203575"/>
            <a:ext cx="2713990" cy="8997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ESP8266 MICROCONTROLLER</a:t>
            </a:r>
            <a:endParaRPr lang="en-GB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矩形 4"/>
          <p:cNvSpPr/>
          <p:nvPr>
            <p:custDataLst>
              <p:tags r:id="rId6"/>
            </p:custDataLst>
          </p:nvPr>
        </p:nvSpPr>
        <p:spPr>
          <a:xfrm>
            <a:off x="695960" y="4312285"/>
            <a:ext cx="2713990" cy="7200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 algn="r">
              <a:spcBef>
                <a:spcPct val="0"/>
              </a:spcBef>
              <a:spcAft>
                <a:spcPct val="0"/>
              </a:spcAft>
            </a:pPr>
            <a:r>
              <a:rPr lang="en-GB" altLang="en-US" sz="2000" b="1">
                <a:solidFill>
                  <a:schemeClr val="accent1"/>
                </a:solidFill>
                <a:latin typeface="+mj-lt"/>
              </a:rPr>
              <a:t>L298N</a:t>
            </a:r>
            <a:endParaRPr lang="en-GB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3" name="矩形 5"/>
          <p:cNvSpPr/>
          <p:nvPr>
            <p:custDataLst>
              <p:tags r:id="rId7"/>
            </p:custDataLst>
          </p:nvPr>
        </p:nvSpPr>
        <p:spPr>
          <a:xfrm>
            <a:off x="695960" y="5085715"/>
            <a:ext cx="2713990" cy="8997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 algn="r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1600">
                <a:solidFill>
                  <a:schemeClr val="tx1">
                    <a:lumMod val="85000"/>
                    <a:lumOff val="15000"/>
                  </a:schemeClr>
                </a:solidFill>
              </a:rPr>
              <a:t>MOTOR DRIVER MODULE </a:t>
            </a:r>
            <a:endParaRPr lang="en-GB" altLang="en-US"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2" name="任意多边形 31"/>
          <p:cNvSpPr/>
          <p:nvPr>
            <p:custDataLst>
              <p:tags r:id="rId8"/>
            </p:custDataLst>
          </p:nvPr>
        </p:nvSpPr>
        <p:spPr>
          <a:xfrm>
            <a:off x="3923665" y="1685925"/>
            <a:ext cx="4340225" cy="4140200"/>
          </a:xfrm>
          <a:custGeom>
            <a:avLst/>
            <a:gdLst>
              <a:gd name="connsiteX0" fmla="*/ 0 w 5215"/>
              <a:gd name="connsiteY0" fmla="*/ 3903 h 5166"/>
              <a:gd name="connsiteX1" fmla="*/ 2612 w 5215"/>
              <a:gd name="connsiteY1" fmla="*/ 0 h 5166"/>
              <a:gd name="connsiteX2" fmla="*/ 5215 w 5215"/>
              <a:gd name="connsiteY2" fmla="*/ 3914 h 5166"/>
              <a:gd name="connsiteX3" fmla="*/ 2609 w 5215"/>
              <a:gd name="connsiteY3" fmla="*/ 5166 h 5166"/>
              <a:gd name="connsiteX4" fmla="*/ 0 w 5215"/>
              <a:gd name="connsiteY4" fmla="*/ 3903 h 51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15" h="5166">
                <a:moveTo>
                  <a:pt x="0" y="3903"/>
                </a:moveTo>
                <a:lnTo>
                  <a:pt x="2612" y="0"/>
                </a:lnTo>
                <a:lnTo>
                  <a:pt x="5215" y="3914"/>
                </a:lnTo>
                <a:lnTo>
                  <a:pt x="2609" y="5166"/>
                </a:lnTo>
                <a:lnTo>
                  <a:pt x="0" y="3903"/>
                </a:lnTo>
                <a:close/>
              </a:path>
            </a:pathLst>
          </a:custGeom>
          <a:noFill/>
          <a:ln w="19050">
            <a:solidFill>
              <a:schemeClr val="accent1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dirty="0">
              <a:sym typeface="Arial" panose="020B0604020202020204" pitchFamily="34" charset="0"/>
            </a:endParaRPr>
          </a:p>
        </p:txBody>
      </p:sp>
      <p:sp>
        <p:nvSpPr>
          <p:cNvPr id="34" name="任意多边形 33"/>
          <p:cNvSpPr/>
          <p:nvPr>
            <p:custDataLst>
              <p:tags r:id="rId9"/>
            </p:custDataLst>
          </p:nvPr>
        </p:nvSpPr>
        <p:spPr>
          <a:xfrm>
            <a:off x="3933190" y="3954780"/>
            <a:ext cx="4320540" cy="1871345"/>
          </a:xfrm>
          <a:custGeom>
            <a:avLst/>
            <a:gdLst>
              <a:gd name="connsiteX0" fmla="*/ 0 w 5191"/>
              <a:gd name="connsiteY0" fmla="*/ 1188 h 2440"/>
              <a:gd name="connsiteX1" fmla="*/ 2600 w 5191"/>
              <a:gd name="connsiteY1" fmla="*/ 0 h 2440"/>
              <a:gd name="connsiteX2" fmla="*/ 5191 w 5191"/>
              <a:gd name="connsiteY2" fmla="*/ 1200 h 2440"/>
              <a:gd name="connsiteX3" fmla="*/ 2604 w 5191"/>
              <a:gd name="connsiteY3" fmla="*/ 2440 h 2440"/>
              <a:gd name="connsiteX4" fmla="*/ 0 w 5191"/>
              <a:gd name="connsiteY4" fmla="*/ 1188 h 2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91" h="2440">
                <a:moveTo>
                  <a:pt x="0" y="1188"/>
                </a:moveTo>
                <a:lnTo>
                  <a:pt x="2600" y="0"/>
                </a:lnTo>
                <a:lnTo>
                  <a:pt x="5191" y="1200"/>
                </a:lnTo>
                <a:lnTo>
                  <a:pt x="2604" y="2440"/>
                </a:lnTo>
                <a:lnTo>
                  <a:pt x="0" y="1188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66000">
                <a:schemeClr val="accent1">
                  <a:alpha val="80000"/>
                </a:schemeClr>
              </a:gs>
              <a:gs pos="100000">
                <a:schemeClr val="accent1">
                  <a:alpha val="85000"/>
                </a:schemeClr>
              </a:gs>
            </a:gsLst>
            <a:lin ang="16200000"/>
          </a:gradFill>
          <a:ln>
            <a:gradFill>
              <a:gsLst>
                <a:gs pos="37000">
                  <a:schemeClr val="accent1">
                    <a:lumMod val="5000"/>
                    <a:lumOff val="95000"/>
                    <a:alpha val="70000"/>
                  </a:schemeClr>
                </a:gs>
                <a:gs pos="0">
                  <a:schemeClr val="accent1">
                    <a:lumMod val="45000"/>
                    <a:lumOff val="55000"/>
                    <a:alpha val="70000"/>
                  </a:schemeClr>
                </a:gs>
                <a:gs pos="100000">
                  <a:schemeClr val="bg1">
                    <a:alpha val="70000"/>
                  </a:schemeClr>
                </a:gs>
                <a:gs pos="71000">
                  <a:schemeClr val="accent1">
                    <a:lumMod val="30000"/>
                    <a:lumOff val="70000"/>
                    <a:alpha val="70000"/>
                  </a:schemeClr>
                </a:gs>
              </a:gsLst>
              <a:lin ang="366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b="1">
                <a:solidFill>
                  <a:srgbClr val="FFFFFF"/>
                </a:solidFill>
                <a:latin typeface="+mn-lt"/>
                <a:sym typeface="+mn-lt"/>
              </a:rPr>
              <a:t>03</a:t>
            </a:r>
            <a:endParaRPr lang="en-US" b="1">
              <a:solidFill>
                <a:srgbClr val="FFFFFF"/>
              </a:solidFill>
              <a:latin typeface="+mn-ea"/>
              <a:sym typeface="+mn-ea"/>
            </a:endParaRPr>
          </a:p>
        </p:txBody>
      </p:sp>
      <p:sp>
        <p:nvSpPr>
          <p:cNvPr id="35" name="任意多边形 34"/>
          <p:cNvSpPr/>
          <p:nvPr>
            <p:custDataLst>
              <p:tags r:id="rId10"/>
            </p:custDataLst>
          </p:nvPr>
        </p:nvSpPr>
        <p:spPr>
          <a:xfrm>
            <a:off x="4613911" y="2979420"/>
            <a:ext cx="2959100" cy="1348105"/>
          </a:xfrm>
          <a:custGeom>
            <a:avLst/>
            <a:gdLst>
              <a:gd name="connsiteX0" fmla="*/ 0 w 3555"/>
              <a:gd name="connsiteY0" fmla="*/ 795 h 1620"/>
              <a:gd name="connsiteX1" fmla="*/ 1771 w 3555"/>
              <a:gd name="connsiteY1" fmla="*/ 0 h 1620"/>
              <a:gd name="connsiteX2" fmla="*/ 3555 w 3555"/>
              <a:gd name="connsiteY2" fmla="*/ 810 h 1620"/>
              <a:gd name="connsiteX3" fmla="*/ 1782 w 3555"/>
              <a:gd name="connsiteY3" fmla="*/ 1620 h 1620"/>
              <a:gd name="connsiteX4" fmla="*/ 0 w 3555"/>
              <a:gd name="connsiteY4" fmla="*/ 795 h 1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55" h="1620">
                <a:moveTo>
                  <a:pt x="0" y="795"/>
                </a:moveTo>
                <a:lnTo>
                  <a:pt x="1771" y="0"/>
                </a:lnTo>
                <a:lnTo>
                  <a:pt x="3555" y="810"/>
                </a:lnTo>
                <a:lnTo>
                  <a:pt x="1782" y="1620"/>
                </a:lnTo>
                <a:lnTo>
                  <a:pt x="0" y="795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66000">
                <a:schemeClr val="accent1">
                  <a:alpha val="70000"/>
                </a:schemeClr>
              </a:gs>
              <a:gs pos="100000">
                <a:schemeClr val="accent1">
                  <a:alpha val="60000"/>
                </a:schemeClr>
              </a:gs>
            </a:gsLst>
            <a:lin ang="16200000"/>
          </a:gradFill>
          <a:ln>
            <a:gradFill>
              <a:gsLst>
                <a:gs pos="37000">
                  <a:schemeClr val="accent1">
                    <a:lumMod val="5000"/>
                    <a:lumOff val="95000"/>
                    <a:alpha val="70000"/>
                  </a:schemeClr>
                </a:gs>
                <a:gs pos="0">
                  <a:schemeClr val="accent1">
                    <a:lumMod val="45000"/>
                    <a:lumOff val="55000"/>
                    <a:alpha val="70000"/>
                  </a:schemeClr>
                </a:gs>
                <a:gs pos="100000">
                  <a:schemeClr val="bg1">
                    <a:alpha val="70000"/>
                  </a:schemeClr>
                </a:gs>
                <a:gs pos="71000">
                  <a:schemeClr val="accent1">
                    <a:lumMod val="30000"/>
                    <a:lumOff val="70000"/>
                    <a:alpha val="70000"/>
                  </a:schemeClr>
                </a:gs>
              </a:gsLst>
              <a:lin ang="162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b="1">
                <a:solidFill>
                  <a:srgbClr val="FFFFFF"/>
                </a:solidFill>
                <a:latin typeface="+mn-lt"/>
                <a:sym typeface="+mn-lt"/>
              </a:rPr>
              <a:t>02</a:t>
            </a:r>
            <a:endParaRPr lang="en-US" b="1">
              <a:solidFill>
                <a:srgbClr val="FFFFFF"/>
              </a:solidFill>
              <a:latin typeface="+mn-ea"/>
              <a:sym typeface="+mn-ea"/>
            </a:endParaRPr>
          </a:p>
        </p:txBody>
      </p:sp>
      <p:sp>
        <p:nvSpPr>
          <p:cNvPr id="36" name="任意多边形 35"/>
          <p:cNvSpPr/>
          <p:nvPr>
            <p:custDataLst>
              <p:tags r:id="rId11"/>
            </p:custDataLst>
          </p:nvPr>
        </p:nvSpPr>
        <p:spPr>
          <a:xfrm>
            <a:off x="5187951" y="2634615"/>
            <a:ext cx="1810385" cy="836295"/>
          </a:xfrm>
          <a:custGeom>
            <a:avLst/>
            <a:gdLst>
              <a:gd name="connsiteX0" fmla="*/ 0 w 2175"/>
              <a:gd name="connsiteY0" fmla="*/ 476 h 1005"/>
              <a:gd name="connsiteX1" fmla="*/ 1080 w 2175"/>
              <a:gd name="connsiteY1" fmla="*/ 0 h 1005"/>
              <a:gd name="connsiteX2" fmla="*/ 2175 w 2175"/>
              <a:gd name="connsiteY2" fmla="*/ 498 h 1005"/>
              <a:gd name="connsiteX3" fmla="*/ 1073 w 2175"/>
              <a:gd name="connsiteY3" fmla="*/ 1005 h 1005"/>
              <a:gd name="connsiteX4" fmla="*/ 0 w 2175"/>
              <a:gd name="connsiteY4" fmla="*/ 476 h 1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5" h="1005">
                <a:moveTo>
                  <a:pt x="0" y="476"/>
                </a:moveTo>
                <a:lnTo>
                  <a:pt x="1080" y="0"/>
                </a:lnTo>
                <a:lnTo>
                  <a:pt x="2175" y="498"/>
                </a:lnTo>
                <a:lnTo>
                  <a:pt x="1073" y="1005"/>
                </a:lnTo>
                <a:lnTo>
                  <a:pt x="0" y="476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66000">
                <a:schemeClr val="accent1">
                  <a:alpha val="35000"/>
                </a:schemeClr>
              </a:gs>
              <a:gs pos="100000">
                <a:schemeClr val="accent1">
                  <a:alpha val="30000"/>
                </a:schemeClr>
              </a:gs>
            </a:gsLst>
            <a:lin ang="16200000"/>
          </a:gradFill>
          <a:ln>
            <a:gradFill>
              <a:gsLst>
                <a:gs pos="37000">
                  <a:schemeClr val="accent1">
                    <a:lumMod val="5000"/>
                    <a:lumOff val="95000"/>
                    <a:alpha val="70000"/>
                  </a:schemeClr>
                </a:gs>
                <a:gs pos="0">
                  <a:schemeClr val="accent1">
                    <a:lumMod val="45000"/>
                    <a:lumOff val="55000"/>
                    <a:alpha val="70000"/>
                  </a:schemeClr>
                </a:gs>
                <a:gs pos="100000">
                  <a:schemeClr val="bg1">
                    <a:alpha val="70000"/>
                  </a:schemeClr>
                </a:gs>
                <a:gs pos="71000">
                  <a:schemeClr val="accent1">
                    <a:lumMod val="30000"/>
                    <a:lumOff val="70000"/>
                    <a:alpha val="70000"/>
                  </a:schemeClr>
                </a:gs>
              </a:gsLst>
              <a:lin ang="162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en-US" dirty="0">
              <a:latin typeface="+mn-lt"/>
              <a:sym typeface="Arial" panose="020B0604020202020204" pitchFamily="34" charset="0"/>
            </a:endParaRPr>
          </a:p>
        </p:txBody>
      </p:sp>
      <p:sp>
        <p:nvSpPr>
          <p:cNvPr id="14" name="矩形 6"/>
          <p:cNvSpPr/>
          <p:nvPr>
            <p:custDataLst>
              <p:tags r:id="rId12"/>
            </p:custDataLst>
          </p:nvPr>
        </p:nvSpPr>
        <p:spPr>
          <a:xfrm>
            <a:off x="8776971" y="3285490"/>
            <a:ext cx="2719069" cy="720090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GB" altLang="en-US" sz="2000" b="1">
                <a:solidFill>
                  <a:schemeClr val="accent1"/>
                </a:solidFill>
                <a:latin typeface="+mj-lt"/>
              </a:rPr>
              <a:t>TG113</a:t>
            </a:r>
            <a:endParaRPr lang="en-GB" altLang="en-US" sz="20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17" name="矩形 7"/>
          <p:cNvSpPr/>
          <p:nvPr>
            <p:custDataLst>
              <p:tags r:id="rId13"/>
            </p:custDataLst>
          </p:nvPr>
        </p:nvSpPr>
        <p:spPr>
          <a:xfrm>
            <a:off x="8776971" y="4049395"/>
            <a:ext cx="2719069" cy="89979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altLang="en-US" sz="1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BLUETOOTH AMPLIFIER BOARD</a:t>
            </a:r>
            <a:endParaRPr lang="en-GB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GB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7" name="任意多边形 36"/>
          <p:cNvSpPr/>
          <p:nvPr>
            <p:custDataLst>
              <p:tags r:id="rId14"/>
            </p:custDataLst>
          </p:nvPr>
        </p:nvSpPr>
        <p:spPr>
          <a:xfrm>
            <a:off x="5183505" y="1685925"/>
            <a:ext cx="1819275" cy="1784985"/>
          </a:xfrm>
          <a:custGeom>
            <a:avLst/>
            <a:gdLst>
              <a:gd name="connsiteX0" fmla="*/ 0 w 2186"/>
              <a:gd name="connsiteY0" fmla="*/ 1621 h 2136"/>
              <a:gd name="connsiteX1" fmla="*/ 1095 w 2186"/>
              <a:gd name="connsiteY1" fmla="*/ 0 h 2136"/>
              <a:gd name="connsiteX2" fmla="*/ 2186 w 2186"/>
              <a:gd name="connsiteY2" fmla="*/ 1632 h 2136"/>
              <a:gd name="connsiteX3" fmla="*/ 1098 w 2186"/>
              <a:gd name="connsiteY3" fmla="*/ 2136 h 2136"/>
              <a:gd name="connsiteX4" fmla="*/ 0 w 2186"/>
              <a:gd name="connsiteY4" fmla="*/ 1621 h 2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86" h="2136">
                <a:moveTo>
                  <a:pt x="0" y="1621"/>
                </a:moveTo>
                <a:lnTo>
                  <a:pt x="1095" y="0"/>
                </a:lnTo>
                <a:lnTo>
                  <a:pt x="2186" y="1632"/>
                </a:lnTo>
                <a:lnTo>
                  <a:pt x="1098" y="2136"/>
                </a:lnTo>
                <a:lnTo>
                  <a:pt x="0" y="1621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20000"/>
                </a:schemeClr>
              </a:gs>
              <a:gs pos="66000">
                <a:schemeClr val="accent1"/>
              </a:gs>
              <a:gs pos="100000">
                <a:schemeClr val="accent1"/>
              </a:gs>
            </a:gsLst>
            <a:lin ang="16200000"/>
          </a:gradFill>
          <a:ln>
            <a:gradFill>
              <a:gsLst>
                <a:gs pos="40000">
                  <a:srgbClr val="FFFFFF"/>
                </a:gs>
                <a:gs pos="0">
                  <a:schemeClr val="accent1">
                    <a:lumMod val="45000"/>
                    <a:lumOff val="55000"/>
                    <a:alpha val="7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  <a:alpha val="70000"/>
                  </a:schemeClr>
                </a:gs>
              </a:gsLst>
              <a:lin ang="16200000" scaled="1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none" lIns="0" tIns="0" rIns="0" bIns="0" numCol="1" spcCol="0" rtlCol="0" fromWordArt="0" anchor="ctr" anchorCtr="0" forceAA="0" compatLnSpc="1">
            <a:normAutofit/>
          </a:bodyPr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b="1">
                <a:solidFill>
                  <a:srgbClr val="FFFFFF"/>
                </a:solidFill>
                <a:latin typeface="+mn-lt"/>
                <a:sym typeface="+mn-lt"/>
              </a:rPr>
              <a:t>01</a:t>
            </a:r>
            <a:endParaRPr lang="en-US" b="1">
              <a:solidFill>
                <a:srgbClr val="FFFFFF"/>
              </a:solidFill>
              <a:latin typeface="+mn-ea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382270"/>
            <a:ext cx="10972800" cy="791845"/>
          </a:xfrm>
        </p:spPr>
        <p:txBody>
          <a:bodyPr/>
          <a:p>
            <a:r>
              <a:rPr lang="en-GB" altLang="en-US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NODEMCU(ESP8266 MICROCONTROLLER) </a:t>
            </a:r>
            <a:endParaRPr lang="en-GB" altLang="en-US" b="1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609600" y="1433830"/>
            <a:ext cx="10972800" cy="4994275"/>
          </a:xfrm>
        </p:spPr>
        <p:txBody>
          <a:bodyPr/>
          <a:p>
            <a:r>
              <a:rPr lang="en-US" altLang="en-GB" sz="2000">
                <a:solidFill>
                  <a:schemeClr val="tx1"/>
                </a:solidFill>
              </a:rPr>
              <a:t>The NodeMCU is an open-source development board and firmware based on</a:t>
            </a: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altLang="en-US" sz="2000">
                <a:solidFill>
                  <a:schemeClr val="tx1"/>
                </a:solidFill>
              </a:rPr>
              <a:t>    </a:t>
            </a:r>
            <a:r>
              <a:rPr lang="en-US" altLang="en-GB" sz="2000">
                <a:solidFill>
                  <a:schemeClr val="tx1"/>
                </a:solidFill>
              </a:rPr>
              <a:t> the ESP8266 Wi-Fi module. It is widely used for IoT (Internet of Things) applications due to</a:t>
            </a:r>
            <a:endParaRPr lang="en-US" altLang="en-GB" sz="20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en-GB" sz="2000">
                <a:solidFill>
                  <a:schemeClr val="tx1"/>
                </a:solidFill>
              </a:rPr>
              <a:t> </a:t>
            </a:r>
            <a:r>
              <a:rPr lang="en-GB" altLang="en-US" sz="2000">
                <a:solidFill>
                  <a:schemeClr val="tx1"/>
                </a:solidFill>
              </a:rPr>
              <a:t>     </a:t>
            </a:r>
            <a:r>
              <a:rPr lang="en-US" altLang="en-GB" sz="2000">
                <a:solidFill>
                  <a:schemeClr val="tx1"/>
                </a:solidFill>
              </a:rPr>
              <a:t>its low cost, built-in Wi-Fi,and ease of programming with Lua or Arduino IDE.</a:t>
            </a:r>
            <a:endParaRPr lang="en-US" altLang="en-GB" sz="2000">
              <a:solidFill>
                <a:schemeClr val="tx1"/>
              </a:solidFill>
            </a:endParaRPr>
          </a:p>
          <a:p>
            <a:r>
              <a:rPr lang="en-US" altLang="en-GB" sz="2000">
                <a:solidFill>
                  <a:schemeClr val="tx1"/>
                </a:solidFill>
              </a:rPr>
              <a:t>Microcontroller: ESP8266 (or ESP-12E module)</a:t>
            </a:r>
            <a:endParaRPr lang="en-US" altLang="en-GB" sz="2000">
              <a:solidFill>
                <a:schemeClr val="tx1"/>
              </a:solidFill>
            </a:endParaRPr>
          </a:p>
          <a:p>
            <a:r>
              <a:rPr lang="en-US" altLang="en-GB" sz="2000">
                <a:solidFill>
                  <a:schemeClr val="tx1"/>
                </a:solidFill>
              </a:rPr>
              <a:t>Wi-Fi Connectivity: Supports 802.11 b/g/n</a:t>
            </a:r>
            <a:endParaRPr lang="en-US" altLang="en-GB" sz="2000">
              <a:solidFill>
                <a:schemeClr val="tx1"/>
              </a:solidFill>
            </a:endParaRPr>
          </a:p>
          <a:p>
            <a:r>
              <a:rPr lang="en-US" altLang="en-GB" sz="2000">
                <a:solidFill>
                  <a:schemeClr val="tx1"/>
                </a:solidFill>
              </a:rPr>
              <a:t>Programming Languages: Lua, Arduino C++, MicroPython</a:t>
            </a:r>
            <a:endParaRPr lang="en-US" altLang="en-GB" sz="2000">
              <a:solidFill>
                <a:schemeClr val="tx1"/>
              </a:solidFill>
            </a:endParaRPr>
          </a:p>
          <a:p>
            <a:r>
              <a:rPr lang="en-GB" altLang="en-US" sz="2000">
                <a:solidFill>
                  <a:schemeClr val="tx1"/>
                </a:solidFill>
              </a:rPr>
              <a:t>Digital </a:t>
            </a:r>
            <a:r>
              <a:rPr lang="en-US" altLang="en-GB" sz="2000">
                <a:solidFill>
                  <a:schemeClr val="tx1"/>
                </a:solidFill>
              </a:rPr>
              <a:t>I/O Pins: Typically 11 GPIOs, PWM, I</a:t>
            </a:r>
            <a:r>
              <a:rPr lang="en-US" altLang="en-US" sz="2000">
                <a:solidFill>
                  <a:schemeClr val="tx1"/>
                </a:solidFill>
              </a:rPr>
              <a:t>²</a:t>
            </a:r>
            <a:r>
              <a:rPr lang="en-US" altLang="en-GB" sz="2000">
                <a:solidFill>
                  <a:schemeClr val="tx1"/>
                </a:solidFill>
              </a:rPr>
              <a:t>C, SPI, ADC</a:t>
            </a:r>
            <a:endParaRPr lang="en-US" altLang="en-GB" sz="2000">
              <a:solidFill>
                <a:schemeClr val="tx1"/>
              </a:solidFill>
            </a:endParaRPr>
          </a:p>
          <a:p>
            <a:r>
              <a:rPr lang="en-GB" altLang="en-US" sz="2000">
                <a:solidFill>
                  <a:schemeClr val="tx1"/>
                </a:solidFill>
              </a:rPr>
              <a:t>Analog Input: 1(ADC0,Max 3.3v)</a:t>
            </a:r>
            <a:endParaRPr lang="en-US" altLang="en-GB" sz="2000">
              <a:solidFill>
                <a:schemeClr val="tx1"/>
              </a:solidFill>
            </a:endParaRPr>
          </a:p>
          <a:p>
            <a:r>
              <a:rPr lang="en-US" altLang="en-GB" sz="2000">
                <a:solidFill>
                  <a:schemeClr val="tx1"/>
                </a:solidFill>
              </a:rPr>
              <a:t>Flash Memory: 4MB </a:t>
            </a:r>
            <a:endParaRPr lang="en-US" altLang="en-GB" sz="2000">
              <a:solidFill>
                <a:schemeClr val="tx1"/>
              </a:solidFill>
            </a:endParaRPr>
          </a:p>
          <a:p>
            <a:r>
              <a:rPr lang="en-US" altLang="en-GB" sz="2000">
                <a:solidFill>
                  <a:schemeClr val="tx1"/>
                </a:solidFill>
              </a:rPr>
              <a:t>Operating Voltage: 3.3V</a:t>
            </a:r>
            <a:endParaRPr lang="en-US" altLang="en-GB" sz="2000">
              <a:solidFill>
                <a:schemeClr val="tx1"/>
              </a:solidFill>
            </a:endParaRPr>
          </a:p>
          <a:p>
            <a:r>
              <a:rPr lang="en-GB" altLang="en-US" sz="2000">
                <a:solidFill>
                  <a:schemeClr val="tx1"/>
                </a:solidFill>
              </a:rPr>
              <a:t>Clock Speed: 80MHz/160MHz</a:t>
            </a:r>
            <a:endParaRPr lang="en-US" altLang="en-GB" sz="2000">
              <a:solidFill>
                <a:schemeClr val="tx1"/>
              </a:solidFill>
            </a:endParaRPr>
          </a:p>
          <a:p>
            <a:r>
              <a:rPr lang="en-US" altLang="en-GB" sz="2000">
                <a:solidFill>
                  <a:schemeClr val="tx1"/>
                </a:solidFill>
              </a:rPr>
              <a:t>USB Interface: Built-in CP2102/CH340G USB-to-Serial converter</a:t>
            </a:r>
            <a:endParaRPr lang="en-US" altLang="en-GB" sz="2000">
              <a:solidFill>
                <a:schemeClr val="tx1"/>
              </a:solidFill>
            </a:endParaRPr>
          </a:p>
          <a:p>
            <a:endParaRPr lang="en-US" altLang="en-GB" sz="2000"/>
          </a:p>
          <a:p>
            <a:endParaRPr lang="en-US" altLang="en-GB" sz="2000"/>
          </a:p>
        </p:txBody>
      </p:sp>
      <p:pic>
        <p:nvPicPr>
          <p:cNvPr id="8" name="Picture 7" descr="download 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7330" y="2779395"/>
            <a:ext cx="3735070" cy="21215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  <a:sym typeface="+mn-ea"/>
              </a:rPr>
              <a:t>                L298N MOTOR DRIVER MODULE</a:t>
            </a:r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873760"/>
            <a:ext cx="10972800" cy="5984240"/>
          </a:xfrm>
        </p:spPr>
        <p:txBody>
          <a:bodyPr/>
          <a:p>
            <a:r>
              <a:rPr lang="en-US" altLang="en-GB" sz="2000"/>
              <a:t>The L298N is a dual H-Bridge motor driver module. It lets you control the direction 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</a:t>
            </a:r>
            <a:r>
              <a:rPr lang="en-US" altLang="en-GB" sz="2000"/>
              <a:t>and speed of two DC motors, or one stepper motor using microcontrollers like Arduino,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 </a:t>
            </a:r>
            <a:r>
              <a:rPr lang="en-US" altLang="en-GB" sz="2000"/>
              <a:t>NodeMCU, or Raspberry Pi.</a:t>
            </a:r>
            <a:endParaRPr lang="en-US" altLang="en-GB" sz="2000"/>
          </a:p>
          <a:p>
            <a:r>
              <a:rPr lang="en-US" altLang="en-GB" sz="2000"/>
              <a:t>Microcontrollers cannot supply enough current to drive motors directly. L298N acts as a bridge between the microcontroller and the motors, safely supplying power and control.</a:t>
            </a:r>
            <a:endParaRPr lang="en-US" altLang="en-GB" sz="2000"/>
          </a:p>
          <a:p>
            <a:r>
              <a:rPr lang="en-US" altLang="en-GB" sz="2000">
                <a:sym typeface="+mn-ea"/>
              </a:rPr>
              <a:t>Power Pins: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GB" altLang="en-US" sz="20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VCC – Motor power supply (5V to 35V)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</a:t>
            </a:r>
            <a:r>
              <a:rPr lang="en-GB" altLang="en-US" sz="1800">
                <a:sym typeface="+mn-ea"/>
              </a:rPr>
              <a:t>    </a:t>
            </a:r>
            <a:r>
              <a:rPr lang="en-US" altLang="en-GB" sz="1800">
                <a:sym typeface="+mn-ea"/>
              </a:rPr>
              <a:t>GND – Ground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</a:t>
            </a:r>
            <a:r>
              <a:rPr lang="en-GB" altLang="en-US" sz="18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5V – Output from the onboard 5V regulator</a:t>
            </a:r>
            <a:endParaRPr lang="en-US" altLang="en-GB" sz="1800">
              <a:sym typeface="+mn-ea"/>
            </a:endParaRPr>
          </a:p>
          <a:p>
            <a:r>
              <a:rPr lang="en-US" altLang="en-GB" sz="2000">
                <a:sym typeface="+mn-ea"/>
              </a:rPr>
              <a:t>Control Pins: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GB" altLang="en-US" sz="2000"/>
              <a:t>      </a:t>
            </a:r>
            <a:r>
              <a:rPr lang="en-US" altLang="en-GB" sz="1800"/>
              <a:t>IN1, IN2 – Control Motor A direct</a:t>
            </a:r>
            <a:r>
              <a:rPr lang="en-GB" altLang="en-US" sz="1800"/>
              <a:t>ion</a:t>
            </a:r>
            <a:endParaRPr lang="en-GB" altLang="en-US" sz="1800"/>
          </a:p>
          <a:p>
            <a:pPr marL="0" indent="0">
              <a:buNone/>
            </a:pPr>
            <a:r>
              <a:rPr lang="en-GB" altLang="en-US" sz="1800"/>
              <a:t>      </a:t>
            </a:r>
            <a:r>
              <a:rPr lang="en-US" altLang="en-GB" sz="1800"/>
              <a:t>IN3, IN4 – Control Motor B directi</a:t>
            </a:r>
            <a:r>
              <a:rPr lang="en-GB" altLang="en-US" sz="1800"/>
              <a:t>o</a:t>
            </a:r>
            <a:r>
              <a:rPr lang="en-US" altLang="en-GB" sz="1800"/>
              <a:t>n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/>
              <a:t>      </a:t>
            </a:r>
            <a:r>
              <a:rPr lang="en-US" altLang="en-GB" sz="1800"/>
              <a:t>ENA – Enable/speed control for Motor </a:t>
            </a:r>
            <a:r>
              <a:rPr lang="en-GB" altLang="en-US" sz="1800"/>
              <a:t>A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/>
              <a:t>      </a:t>
            </a:r>
            <a:r>
              <a:rPr lang="en-US" altLang="en-GB" sz="1800"/>
              <a:t>ENB – Enable/speed control for Motor B</a:t>
            </a:r>
            <a:endParaRPr lang="en-US" altLang="en-GB" sz="1800"/>
          </a:p>
          <a:p>
            <a:r>
              <a:rPr lang="en-US" altLang="en-GB" sz="2000"/>
              <a:t>Output Pins (to Motors):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 </a:t>
            </a:r>
            <a:r>
              <a:rPr lang="en-US" altLang="en-GB" sz="1800"/>
              <a:t>OUT1 &amp; OUT2 – Connect to Motor A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/>
              <a:t>     </a:t>
            </a:r>
            <a:r>
              <a:rPr lang="en-US" altLang="en-GB" sz="1800"/>
              <a:t>OUT3 &amp; OUT4 – Connect to Motor B</a:t>
            </a:r>
            <a:endParaRPr lang="en-US" altLang="en-GB" sz="1800"/>
          </a:p>
          <a:p>
            <a:endParaRPr lang="en-US" altLang="en-GB" sz="2000"/>
          </a:p>
          <a:p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</a:t>
            </a:r>
            <a:endParaRPr lang="en-GB" altLang="en-US" sz="2000"/>
          </a:p>
          <a:p>
            <a:pPr marL="0" indent="0">
              <a:buNone/>
            </a:pPr>
            <a:endParaRPr lang="en-GB" altLang="en-US" sz="2000"/>
          </a:p>
          <a:p>
            <a:pPr marL="0" indent="0">
              <a:buNone/>
            </a:pPr>
            <a:endParaRPr lang="en-GB" altLang="en-US" sz="2000"/>
          </a:p>
          <a:p>
            <a:pPr marL="0" indent="0">
              <a:buNone/>
            </a:pPr>
            <a:endParaRPr lang="en-GB" altLang="en-US" sz="2000"/>
          </a:p>
          <a:p>
            <a:pPr marL="0" indent="0">
              <a:buNone/>
            </a:pPr>
            <a:endParaRPr lang="en-US" altLang="en-GB" sz="2000"/>
          </a:p>
          <a:p>
            <a:pPr marL="0" indent="0">
              <a:buNone/>
            </a:pPr>
            <a:endParaRPr lang="en-US" altLang="en-GB" sz="2000"/>
          </a:p>
          <a:p>
            <a:endParaRPr lang="en-US" altLang="en-GB" sz="2000"/>
          </a:p>
        </p:txBody>
      </p:sp>
      <p:pic>
        <p:nvPicPr>
          <p:cNvPr id="4" name="Picture 3" descr="moto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3210560"/>
            <a:ext cx="4668520" cy="310705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TG113 BLUETOOTH AMPLIFIER BOARD</a:t>
            </a:r>
            <a:endParaRPr lang="en-GB" altLang="en-US" b="1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GB" sz="2000"/>
              <a:t>The TG113 Bluetooth speaker contains a built-in amplifier and Bluetooth audio module, typically using:</a:t>
            </a:r>
            <a:endParaRPr lang="en-US" altLang="en-GB" sz="2000"/>
          </a:p>
          <a:p>
            <a:r>
              <a:rPr lang="en-US" altLang="en-GB" sz="2000"/>
              <a:t>Bluetooth 4.2/5.0 for wireless connectivity</a:t>
            </a:r>
            <a:endParaRPr lang="en-US" altLang="en-GB" sz="2000"/>
          </a:p>
          <a:p>
            <a:r>
              <a:rPr lang="en-US" altLang="en-GB" sz="2000"/>
              <a:t>Class-D amplifier chip for efficient audio output</a:t>
            </a:r>
            <a:endParaRPr lang="en-US" altLang="en-GB" sz="2000"/>
          </a:p>
          <a:p>
            <a:r>
              <a:rPr lang="en-US" altLang="en-GB" sz="2000"/>
              <a:t>Power output: Usually around 5W </a:t>
            </a:r>
            <a:r>
              <a:rPr lang="en-US" altLang="en-US" sz="2000"/>
              <a:t>×</a:t>
            </a:r>
            <a:r>
              <a:rPr lang="en-US" altLang="en-GB" sz="2000"/>
              <a:t> 2 (stereo)</a:t>
            </a:r>
            <a:endParaRPr lang="en-US" altLang="en-GB" sz="2000"/>
          </a:p>
          <a:p>
            <a:r>
              <a:rPr lang="en-US" altLang="en-GB" sz="2000"/>
              <a:t>Battery-powered: Rechargeable via Micro-USB</a:t>
            </a:r>
            <a:endParaRPr lang="en-US" altLang="en-GB" sz="2000"/>
          </a:p>
          <a:p>
            <a:r>
              <a:rPr lang="en-US" altLang="en-GB" sz="2000"/>
              <a:t>Aux Input: Supports 3.5mm jack for wired audio</a:t>
            </a:r>
            <a:endParaRPr lang="en-US" altLang="en-GB" sz="2000"/>
          </a:p>
          <a:p>
            <a:r>
              <a:rPr lang="en-US" altLang="en-GB" sz="2000"/>
              <a:t>Operating Voltage: 3.6V-7.2V DC</a:t>
            </a:r>
            <a:endParaRPr lang="en-US" altLang="en-GB" sz="2000"/>
          </a:p>
          <a:p>
            <a:r>
              <a:rPr lang="en-US" altLang="en-GB" sz="2000"/>
              <a:t>Audio Formats: Supports MP3, WMA, and WAV formats</a:t>
            </a:r>
            <a:endParaRPr lang="en-US" altLang="en-GB" sz="2000"/>
          </a:p>
          <a:p>
            <a:r>
              <a:rPr lang="en-US" altLang="en-GB" sz="2000"/>
              <a:t>Amplifier: Has a small amplifier that can drive speakers </a:t>
            </a:r>
            <a:endParaRPr lang="en-US" altLang="en-GB" sz="2000"/>
          </a:p>
          <a:p>
            <a:r>
              <a:rPr lang="en-US" altLang="en-GB" sz="2000">
                <a:sym typeface="+mn-ea"/>
              </a:rPr>
              <a:t>Bluetooth: Has built-in Bluetooth for wireless music streaming and hands-free calls</a:t>
            </a:r>
            <a:endParaRPr lang="en-US" altLang="en-GB" sz="2000"/>
          </a:p>
          <a:p>
            <a:r>
              <a:rPr lang="en-US" altLang="en-GB" sz="2000"/>
              <a:t>Additional Features: FM radio, USB, SD-card slot, AUX input, and a built-in microphone for recording purposes </a:t>
            </a:r>
            <a:endParaRPr lang="en-US" altLang="en-GB" sz="2000"/>
          </a:p>
          <a:p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endParaRPr lang="en-US" altLang="en-GB" sz="2000"/>
          </a:p>
          <a:p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</a:t>
            </a:r>
            <a:r>
              <a:rPr lang="en-US" altLang="en-GB" sz="2000"/>
              <a:t> </a:t>
            </a:r>
            <a:endParaRPr lang="en-US" altLang="en-GB" sz="2000"/>
          </a:p>
        </p:txBody>
      </p:sp>
      <p:pic>
        <p:nvPicPr>
          <p:cNvPr id="4" name="Picture 3" descr="bluetooth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3950" y="1622425"/>
            <a:ext cx="3616325" cy="3068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                 DUAL-SHAFT BO MOTORS</a:t>
            </a:r>
            <a:endParaRPr lang="en-GB" altLang="en-US" b="1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74750"/>
            <a:ext cx="10972800" cy="5554345"/>
          </a:xfrm>
        </p:spPr>
        <p:txBody>
          <a:bodyPr/>
          <a:p>
            <a:pPr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A dual-shaft BO (Brushless) motor is a type of electric motor that has two separate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>
                <a:sym typeface="+mn-ea"/>
              </a:rPr>
              <a:t>     </a:t>
            </a:r>
            <a:r>
              <a:rPr lang="en-US" altLang="en-GB" sz="2000">
                <a:sym typeface="+mn-ea"/>
              </a:rPr>
              <a:t>shafts, each with its own set of magnetic poles and windings</a:t>
            </a:r>
            <a:r>
              <a:rPr lang="en-GB" altLang="en-US" sz="2000">
                <a:sym typeface="+mn-ea"/>
              </a:rPr>
              <a:t>.</a:t>
            </a:r>
            <a:endParaRPr lang="en-GB" altLang="en-US" sz="2000">
              <a:sym typeface="+mn-ea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/>
              <a:t>Electrical Specifications:</a:t>
            </a: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sz="2000"/>
              <a:t>      </a:t>
            </a:r>
            <a:r>
              <a:rPr lang="en-US" altLang="en-GB" sz="2000"/>
              <a:t>Voltage: 12V, 24V, or 4V DC</a:t>
            </a: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en-GB" sz="2000"/>
              <a:t> </a:t>
            </a:r>
            <a:r>
              <a:rPr lang="en-GB" altLang="en-US" sz="2000"/>
              <a:t>     </a:t>
            </a:r>
            <a:r>
              <a:rPr lang="en-US" altLang="en-GB" sz="2000"/>
              <a:t>Current: 1A, 2A, 5A, or 10A</a:t>
            </a: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sz="2000"/>
              <a:t>      </a:t>
            </a:r>
            <a:r>
              <a:rPr lang="en-US" altLang="en-GB" sz="2000"/>
              <a:t>Power: 10W, 20W, 50W, or 100W</a:t>
            </a: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sz="2000"/>
              <a:t>      </a:t>
            </a:r>
            <a:r>
              <a:rPr lang="en-US" altLang="en-GB" sz="2000"/>
              <a:t>Efficiency: 80%, 85%, or 90%</a:t>
            </a:r>
            <a:endParaRPr lang="en-US" altLang="en-GB" sz="20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>
                <a:sym typeface="+mn-ea"/>
              </a:rPr>
              <a:t>Control Specifications:</a:t>
            </a: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sz="2000">
                <a:sym typeface="+mn-ea"/>
              </a:rPr>
              <a:t>     </a:t>
            </a:r>
            <a:r>
              <a:rPr lang="en-US" altLang="en-GB" sz="2000">
                <a:sym typeface="+mn-ea"/>
              </a:rPr>
              <a:t> Control Mode: PWM, analog, or digital</a:t>
            </a: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sz="2000">
                <a:sym typeface="+mn-ea"/>
              </a:rPr>
              <a:t>      </a:t>
            </a:r>
            <a:r>
              <a:rPr lang="en-US" altLang="en-GB" sz="2000">
                <a:sym typeface="+mn-ea"/>
              </a:rPr>
              <a:t>Control Interface: UART, SPI, I2C, or CAN</a:t>
            </a: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sz="2000">
                <a:sym typeface="+mn-ea"/>
              </a:rPr>
              <a:t>      </a:t>
            </a:r>
            <a:r>
              <a:rPr lang="en-US" altLang="en-GB" sz="2000">
                <a:sym typeface="+mn-ea"/>
              </a:rPr>
              <a:t>Encoder: Optional, with 1000, 2000, or 3600 CPR</a:t>
            </a:r>
            <a:endParaRPr lang="en-US" altLang="en-GB" sz="2000"/>
          </a:p>
          <a:p>
            <a:pPr>
              <a:buFont typeface="Arial" panose="020B0604020202020204" pitchFamily="34" charset="0"/>
              <a:buChar char="•"/>
            </a:pPr>
            <a:r>
              <a:rPr lang="en-US" altLang="en-GB" sz="2000"/>
              <a:t>Performance Specifications:</a:t>
            </a: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sz="2000"/>
              <a:t>     </a:t>
            </a:r>
            <a:r>
              <a:rPr lang="en-US" altLang="en-GB" sz="2000"/>
              <a:t>Speed Range: 1000 RPM, 2000 RPM, 3000 RPM, or 4000 RPM</a:t>
            </a: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sz="2000"/>
              <a:t>     </a:t>
            </a:r>
            <a:r>
              <a:rPr lang="en-US" altLang="en-GB" sz="2000"/>
              <a:t>Torque: 0.1 Nm, 0.5 Nm, 1 Nm, or 2 Nm</a:t>
            </a: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sz="2000"/>
              <a:t>     </a:t>
            </a:r>
            <a:r>
              <a:rPr lang="en-US" altLang="en-GB" sz="2000"/>
              <a:t>Acceleration: 1000 RPM/s, 2000 RPM/s, 3000 RPM/s, or 4000 RPM/s</a:t>
            </a: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endParaRPr lang="en-US" altLang="en-GB" sz="2000"/>
          </a:p>
          <a:p>
            <a:pPr marL="0" indent="0">
              <a:buFont typeface="Arial" panose="020B0604020202020204" pitchFamily="34" charset="0"/>
              <a:buNone/>
            </a:pPr>
            <a:endParaRPr lang="en-US" altLang="en-GB" sz="2000"/>
          </a:p>
          <a:p>
            <a:pPr>
              <a:buFont typeface="Arial" panose="020B0604020202020204" pitchFamily="34" charset="0"/>
              <a:buChar char="•"/>
            </a:pPr>
            <a:endParaRPr lang="en-US" altLang="en-GB" sz="2000"/>
          </a:p>
          <a:p>
            <a:pPr>
              <a:buFont typeface="Arial" panose="020B0604020202020204" pitchFamily="34" charset="0"/>
              <a:buChar char="•"/>
            </a:pPr>
            <a:endParaRPr lang="en-US" altLang="en-GB" sz="2000"/>
          </a:p>
        </p:txBody>
      </p:sp>
      <p:pic>
        <p:nvPicPr>
          <p:cNvPr id="4" name="Picture 3" descr="download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5660" y="2279015"/>
            <a:ext cx="3836035" cy="28917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LITHIUM ION BATTERY AND SPEAKER</a:t>
            </a:r>
            <a:endParaRPr lang="en-GB" altLang="en-US" b="1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772795"/>
            <a:ext cx="10972800" cy="5725160"/>
          </a:xfrm>
        </p:spPr>
        <p:txBody>
          <a:bodyPr/>
          <a:p>
            <a:pPr marL="0" indent="0">
              <a:buFont typeface="Arial" panose="020B0604020202020204" pitchFamily="34" charset="0"/>
              <a:buNone/>
            </a:pPr>
            <a:r>
              <a:rPr lang="en-US" altLang="en-GB"/>
              <a:t> </a:t>
            </a:r>
            <a:r>
              <a:rPr lang="en-US" altLang="en-GB" sz="2000" b="1"/>
              <a:t>Lithium-ion (Li-ion) batteries </a:t>
            </a:r>
            <a:r>
              <a:rPr lang="en-US" altLang="en-GB" sz="2000"/>
              <a:t>are a type of rechargeable </a:t>
            </a:r>
            <a:r>
              <a:rPr lang="en-GB" altLang="en-US" sz="2000"/>
              <a:t> </a:t>
            </a:r>
            <a:r>
              <a:rPr lang="en-US" altLang="en-GB" sz="2000"/>
              <a:t>battery that has become widel</a:t>
            </a:r>
            <a:r>
              <a:rPr lang="en-GB" altLang="en-US" sz="2000"/>
              <a:t>y</a:t>
            </a:r>
            <a:endParaRPr lang="en-GB" altLang="en-US" sz="2000"/>
          </a:p>
          <a:p>
            <a:pPr marL="0" indent="0">
              <a:buFont typeface="Arial" panose="020B0604020202020204" pitchFamily="34" charset="0"/>
              <a:buNone/>
            </a:pPr>
            <a:r>
              <a:rPr lang="en-GB" altLang="en-US" sz="2000"/>
              <a:t>   </a:t>
            </a:r>
            <a:r>
              <a:rPr lang="en-US" altLang="en-GB" sz="2000"/>
              <a:t>used in portable electronics, electric vehicles, and renewable energy systems.</a:t>
            </a:r>
            <a:endParaRPr lang="en-US" altLang="en-GB" sz="2000"/>
          </a:p>
          <a:p>
            <a:r>
              <a:rPr lang="en-US" altLang="en-GB" sz="2000"/>
              <a:t>Electrical Specifications: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</a:t>
            </a:r>
            <a:r>
              <a:rPr lang="en-US" altLang="en-GB" sz="2000"/>
              <a:t> Nominal Voltage: 3.7V, 7.4V, 11.1V, or 12V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</a:t>
            </a:r>
            <a:r>
              <a:rPr lang="en-US" altLang="en-GB" sz="2000"/>
              <a:t> Capacity: 100mAh, 200mAh, 500mAh, 1000mAh, or higher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</a:t>
            </a:r>
            <a:r>
              <a:rPr lang="en-US" altLang="en-GB" sz="2000"/>
              <a:t> Charging Voltage: 4.2V, 8.4V, or 12.6V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 </a:t>
            </a:r>
            <a:r>
              <a:rPr lang="en-US" altLang="en-GB" sz="2000"/>
              <a:t>Discharging Voltage: 2.75V, 5.5V, or 10.5V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</a:t>
            </a:r>
            <a:r>
              <a:rPr lang="en-US" altLang="en-GB" sz="2000"/>
              <a:t>Internal Resistance: 10mΩ, 20mΩ, or 50mΩ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</a:t>
            </a:r>
            <a:r>
              <a:rPr lang="en-GB" altLang="en-US" sz="2000" b="1"/>
              <a:t>8E/O.5W Speaker:</a:t>
            </a:r>
            <a:endParaRPr lang="en-US" altLang="en-GB" sz="2000" b="1"/>
          </a:p>
          <a:p>
            <a:r>
              <a:rPr lang="en-US" altLang="en-GB" sz="2000"/>
              <a:t>Electrical Characteristics: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 </a:t>
            </a:r>
            <a:r>
              <a:rPr lang="en-US" altLang="en-GB" sz="2000"/>
              <a:t>Impedance: 8Ω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</a:t>
            </a:r>
            <a:r>
              <a:rPr lang="en-US" altLang="en-GB" sz="2000"/>
              <a:t> Power Rating: 0.5W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 </a:t>
            </a:r>
            <a:r>
              <a:rPr lang="en-US" altLang="en-GB" sz="2000"/>
              <a:t>Voltage Rating: 1.5V - 3V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</a:t>
            </a:r>
            <a:r>
              <a:rPr lang="en-US" altLang="en-GB" sz="2000"/>
              <a:t>Current Rating: 62.5mA - 125mA</a:t>
            </a:r>
            <a:endParaRPr lang="en-US" altLang="en-GB" sz="2000"/>
          </a:p>
          <a:p>
            <a:endParaRPr lang="en-US" altLang="en-GB" sz="2000"/>
          </a:p>
        </p:txBody>
      </p:sp>
      <p:pic>
        <p:nvPicPr>
          <p:cNvPr id="4" name="Picture 3" descr="download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14995" y="1891030"/>
            <a:ext cx="2305050" cy="1981200"/>
          </a:xfrm>
          <a:prstGeom prst="rect">
            <a:avLst/>
          </a:prstGeom>
        </p:spPr>
      </p:pic>
      <p:pic>
        <p:nvPicPr>
          <p:cNvPr id="5" name="Picture 4" descr="download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5755" y="4007485"/>
            <a:ext cx="2247900" cy="2038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sz="4800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WORKING MECHANISM</a:t>
            </a:r>
            <a:r>
              <a:rPr lang="en-GB" altLang="en-US" sz="4800"/>
              <a:t> </a:t>
            </a:r>
            <a:endParaRPr lang="en-GB" altLang="en-US" sz="4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7050" y="773430"/>
            <a:ext cx="11055350" cy="5905500"/>
          </a:xfrm>
        </p:spPr>
        <p:txBody>
          <a:bodyPr/>
          <a:p>
            <a:pPr marL="0" indent="0">
              <a:buNone/>
            </a:pPr>
            <a:r>
              <a:rPr lang="en-GB" altLang="en-US" sz="2000" b="1"/>
              <a:t>  </a:t>
            </a:r>
            <a:r>
              <a:rPr lang="en-US" altLang="en-GB" sz="2000" b="1"/>
              <a:t>Software Components:</a:t>
            </a:r>
            <a:endParaRPr lang="en-US" altLang="en-GB" sz="2000" b="1"/>
          </a:p>
          <a:p>
            <a:pPr marL="0" indent="0">
              <a:buNone/>
            </a:pPr>
            <a:r>
              <a:rPr lang="en-GB" altLang="en-US" sz="2000"/>
              <a:t>    </a:t>
            </a:r>
            <a:r>
              <a:rPr lang="en-US" altLang="en-GB" sz="2000"/>
              <a:t> </a:t>
            </a:r>
            <a:r>
              <a:rPr lang="en-US" altLang="en-GB" sz="2000" b="1"/>
              <a:t>Microcontroller Firmware:</a:t>
            </a:r>
            <a:r>
              <a:rPr lang="en-US" altLang="en-GB" sz="2000"/>
              <a:t> The program running on the microcontroller, responsible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</a:t>
            </a:r>
            <a:r>
              <a:rPr lang="en-US" altLang="en-GB" sz="2000"/>
              <a:t> for </a:t>
            </a:r>
            <a:r>
              <a:rPr lang="en-GB" altLang="en-US" sz="2000"/>
              <a:t> </a:t>
            </a:r>
            <a:r>
              <a:rPr lang="en-US" altLang="en-GB" sz="2000"/>
              <a:t>receiving commands, controlling the motors, and interacting with the WiFi module.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</a:t>
            </a:r>
            <a:r>
              <a:rPr lang="en-US" altLang="en-GB" sz="2000" b="1"/>
              <a:t>WiFi Library:</a:t>
            </a:r>
            <a:r>
              <a:rPr lang="en-US" altLang="en-GB" sz="2000"/>
              <a:t> A software library that provides WiFi connectivity and communication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 </a:t>
            </a:r>
            <a:r>
              <a:rPr lang="en-GB" altLang="en-US" sz="2000"/>
              <a:t>  </a:t>
            </a:r>
            <a:r>
              <a:rPr lang="en-US" altLang="en-GB" sz="2000"/>
              <a:t>functionality to the microcontroller.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 </a:t>
            </a:r>
            <a:r>
              <a:rPr lang="en-US" altLang="en-GB" sz="2000" b="1"/>
              <a:t>Remote Control App:</a:t>
            </a:r>
            <a:r>
              <a:rPr lang="en-US" altLang="en-GB" sz="2000"/>
              <a:t> A mobile or web application that sends commands to the WiF</a:t>
            </a:r>
            <a:r>
              <a:rPr lang="en-GB" altLang="en-US" sz="2000"/>
              <a:t>i</a:t>
            </a:r>
            <a:endParaRPr lang="en-GB" altLang="en-US" sz="2000"/>
          </a:p>
          <a:p>
            <a:pPr marL="0" indent="0">
              <a:buNone/>
            </a:pPr>
            <a:r>
              <a:rPr lang="en-GB" altLang="en-US" sz="2000">
                <a:sym typeface="+mn-ea"/>
              </a:rPr>
              <a:t>    </a:t>
            </a:r>
            <a:r>
              <a:rPr lang="en-US" altLang="en-GB" sz="2000">
                <a:sym typeface="+mn-ea"/>
              </a:rPr>
              <a:t>controlled car</a:t>
            </a:r>
            <a:r>
              <a:rPr lang="en-GB" altLang="en-US" sz="2000">
                <a:sym typeface="+mn-ea"/>
              </a:rPr>
              <a:t>,</a:t>
            </a:r>
            <a:r>
              <a:rPr lang="en-US" altLang="en-GB" sz="2000">
                <a:sym typeface="+mn-ea"/>
              </a:rPr>
              <a:t>allowing users to remotely control the vehicle.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</a:t>
            </a:r>
            <a:r>
              <a:rPr lang="en-GB" altLang="en-US" sz="2000" b="1"/>
              <a:t> </a:t>
            </a:r>
            <a:r>
              <a:rPr lang="en-US" altLang="en-GB" sz="2000" b="1"/>
              <a:t>Working Mechanism:</a:t>
            </a:r>
            <a:endParaRPr lang="en-US" altLang="en-GB" sz="2000" b="1"/>
          </a:p>
          <a:p>
            <a:pPr marL="0" indent="0">
              <a:buNone/>
            </a:pPr>
            <a:r>
              <a:rPr lang="en-GB" altLang="en-US" sz="2000"/>
              <a:t>   </a:t>
            </a:r>
            <a:r>
              <a:rPr lang="en-US" altLang="en-GB" sz="2000"/>
              <a:t> </a:t>
            </a:r>
            <a:r>
              <a:rPr lang="en-US" altLang="en-GB" sz="2000" b="1"/>
              <a:t>Connection Establishment:</a:t>
            </a:r>
            <a:r>
              <a:rPr lang="en-US" altLang="en-GB" sz="2000"/>
              <a:t> The WiFi-controlled car connects to a WiFi network using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</a:t>
            </a:r>
            <a:r>
              <a:rPr lang="en-US" altLang="en-GB" sz="2000"/>
              <a:t> the WiFi module.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</a:t>
            </a:r>
            <a:r>
              <a:rPr lang="en-US" altLang="en-GB" sz="2000"/>
              <a:t> </a:t>
            </a:r>
            <a:r>
              <a:rPr lang="en-US" altLang="en-GB" sz="2000" b="1"/>
              <a:t>Command Reception:</a:t>
            </a:r>
            <a:r>
              <a:rPr lang="en-US" altLang="en-GB" sz="2000"/>
              <a:t> The microcontroller receives commands from the remote control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 </a:t>
            </a:r>
            <a:r>
              <a:rPr lang="en-US" altLang="en-GB" sz="2000"/>
              <a:t>app through the WiFi connection.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</a:t>
            </a:r>
            <a:r>
              <a:rPr lang="en-US" altLang="en-GB" sz="2000"/>
              <a:t> </a:t>
            </a:r>
            <a:r>
              <a:rPr lang="en-US" altLang="en-GB" sz="2000" b="1"/>
              <a:t>Command Processing</a:t>
            </a:r>
            <a:r>
              <a:rPr lang="en-US" altLang="en-GB" sz="2000"/>
              <a:t>: The microcontroller processes the received commands,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 </a:t>
            </a:r>
            <a:r>
              <a:rPr lang="en-US" altLang="en-GB" sz="2000"/>
              <a:t>determining the desired action (e.g., move forward, turn left, stop).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</a:t>
            </a:r>
            <a:r>
              <a:rPr lang="en-US" altLang="en-GB" sz="2000" b="1"/>
              <a:t>Motor Control:</a:t>
            </a:r>
            <a:r>
              <a:rPr lang="en-US" altLang="en-GB" sz="2000"/>
              <a:t> The microcontroller sends signals to the motor driver, which controls the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</a:t>
            </a:r>
            <a:r>
              <a:rPr lang="en-US" altLang="en-GB" sz="2000"/>
              <a:t> </a:t>
            </a:r>
            <a:r>
              <a:rPr lang="en-GB" altLang="en-US" sz="2000"/>
              <a:t> </a:t>
            </a:r>
            <a:r>
              <a:rPr lang="en-US" altLang="en-GB" sz="2000"/>
              <a:t>speed and direction of the DC motors.</a:t>
            </a:r>
            <a:endParaRPr lang="en-US" altLang="en-GB" sz="2000"/>
          </a:p>
          <a:p>
            <a:endParaRPr lang="en-US" altLang="en-GB" sz="2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677545"/>
            <a:ext cx="10972800" cy="6179820"/>
          </a:xfrm>
        </p:spPr>
        <p:txBody>
          <a:bodyPr/>
          <a:p>
            <a:pPr marL="0" indent="0">
              <a:buNone/>
            </a:pPr>
            <a:r>
              <a:rPr lang="en-GB" altLang="en-US" sz="2000" b="1">
                <a:sym typeface="+mn-ea"/>
              </a:rPr>
              <a:t>     </a:t>
            </a:r>
            <a:r>
              <a:rPr lang="en-US" altLang="en-GB" sz="2000" b="1">
                <a:sym typeface="+mn-ea"/>
              </a:rPr>
              <a:t>Movement:</a:t>
            </a:r>
            <a:r>
              <a:rPr lang="en-US" altLang="en-GB" sz="2000">
                <a:sym typeface="+mn-ea"/>
              </a:rPr>
              <a:t> The DC motors propel the car forward, backward, or turn it left or right,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</a:t>
            </a: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 </a:t>
            </a:r>
            <a:r>
              <a:rPr lang="en-US" altLang="en-GB" sz="2000">
                <a:sym typeface="+mn-ea"/>
              </a:rPr>
              <a:t>depending on the received commands.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 b="1">
                <a:sym typeface="+mn-ea"/>
              </a:rPr>
              <a:t> </a:t>
            </a:r>
            <a:r>
              <a:rPr lang="en-US" altLang="en-GB" sz="2000" b="1">
                <a:sym typeface="+mn-ea"/>
              </a:rPr>
              <a:t>Communication Protocol: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>
                <a:sym typeface="+mn-ea"/>
              </a:rPr>
              <a:t>     </a:t>
            </a:r>
            <a:r>
              <a:rPr lang="en-US" altLang="en-GB" sz="2000">
                <a:sym typeface="+mn-ea"/>
              </a:rPr>
              <a:t>The WiFi-controlled car uses a communication protocol to exchange data with the remote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    </a:t>
            </a:r>
            <a:r>
              <a:rPr lang="en-US" altLang="en-GB" sz="2000">
                <a:sym typeface="+mn-ea"/>
              </a:rPr>
              <a:t>control</a:t>
            </a:r>
            <a:r>
              <a:rPr lang="en-GB" altLang="en-US" sz="2000">
                <a:sym typeface="+mn-ea"/>
              </a:rPr>
              <a:t> </a:t>
            </a:r>
            <a:r>
              <a:rPr lang="en-US" altLang="en-GB" sz="2000">
                <a:sym typeface="+mn-ea"/>
              </a:rPr>
              <a:t>app.Common protocols include: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>
                <a:sym typeface="+mn-ea"/>
              </a:rPr>
              <a:t>     </a:t>
            </a:r>
            <a:r>
              <a:rPr lang="en-US" altLang="en-GB" sz="2000" b="1">
                <a:sym typeface="+mn-ea"/>
              </a:rPr>
              <a:t>HTTP:</a:t>
            </a:r>
            <a:r>
              <a:rPr lang="en-US" altLang="en-GB" sz="2000">
                <a:sym typeface="+mn-ea"/>
              </a:rPr>
              <a:t> Hypertext Transfer Protocol, used for web-based communication.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   </a:t>
            </a:r>
            <a:r>
              <a:rPr lang="en-US" altLang="en-GB" sz="2000" b="1">
                <a:sym typeface="+mn-ea"/>
              </a:rPr>
              <a:t>MQTT: </a:t>
            </a:r>
            <a:r>
              <a:rPr lang="en-US" altLang="en-GB" sz="2000">
                <a:sym typeface="+mn-ea"/>
              </a:rPr>
              <a:t>Message Queuing Telemetry Transport, a lightweight messaging protocol.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   </a:t>
            </a:r>
            <a:r>
              <a:rPr lang="en-US" altLang="en-GB" sz="2000" b="1">
                <a:sym typeface="+mn-ea"/>
              </a:rPr>
              <a:t>TCP/IP: </a:t>
            </a:r>
            <a:r>
              <a:rPr lang="en-US" altLang="en-GB" sz="2000">
                <a:sym typeface="+mn-ea"/>
              </a:rPr>
              <a:t>Transmission Control Protocol/Internet Protocol, a suite of communication protocols.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>
                <a:sym typeface="+mn-ea"/>
              </a:rPr>
              <a:t>  </a:t>
            </a:r>
            <a:r>
              <a:rPr lang="en-GB" altLang="en-US" sz="2000" b="1">
                <a:sym typeface="+mn-ea"/>
              </a:rPr>
              <a:t>Bluetooth Activation</a:t>
            </a:r>
            <a:r>
              <a:rPr lang="en-GB" altLang="en-US" sz="2400" b="1">
                <a:sym typeface="+mn-ea"/>
              </a:rPr>
              <a:t>: </a:t>
            </a:r>
            <a:endParaRPr lang="en-GB" altLang="en-US" sz="2400" b="1">
              <a:sym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2400" b="1">
                <a:sym typeface="+mn-ea"/>
              </a:rPr>
              <a:t>      </a:t>
            </a:r>
            <a:r>
              <a:rPr lang="en-US" altLang="en-GB" sz="2000">
                <a:sym typeface="+mn-ea"/>
              </a:rPr>
              <a:t>Once powered, the board boots the </a:t>
            </a:r>
            <a:r>
              <a:rPr lang="en-GB" altLang="en-US" sz="2000">
                <a:sym typeface="+mn-ea"/>
              </a:rPr>
              <a:t>Tg113 </a:t>
            </a:r>
            <a:r>
              <a:rPr lang="en-US" altLang="en-GB" sz="2000">
                <a:sym typeface="+mn-ea"/>
              </a:rPr>
              <a:t>Bluetooth module.You’ll hear a voice prompt or</a:t>
            </a:r>
            <a:endParaRPr lang="en-US" altLang="en-GB" sz="2000">
              <a:sym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 </a:t>
            </a: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  </a:t>
            </a:r>
            <a:r>
              <a:rPr lang="en-US" altLang="en-GB" sz="2000">
                <a:sym typeface="+mn-ea"/>
              </a:rPr>
              <a:t>beep</a:t>
            </a:r>
            <a:r>
              <a:rPr lang="en-GB" altLang="en-US" sz="2000">
                <a:sym typeface="+mn-ea"/>
              </a:rPr>
              <a:t>.</a:t>
            </a:r>
            <a:r>
              <a:rPr lang="en-US" altLang="en-GB" sz="2000">
                <a:sym typeface="+mn-ea"/>
              </a:rPr>
              <a:t>A Bluetooth LED starts flashing, indicating it's in pairing mode</a:t>
            </a:r>
            <a:r>
              <a:rPr lang="en-US" altLang="en-GB" sz="2400" b="1">
                <a:sym typeface="+mn-ea"/>
              </a:rPr>
              <a:t>.</a:t>
            </a:r>
            <a:endParaRPr lang="en-US" altLang="en-GB" sz="2400" b="1">
              <a:sym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2400" b="1">
                <a:sym typeface="+mn-ea"/>
              </a:rPr>
              <a:t>      </a:t>
            </a:r>
            <a:r>
              <a:rPr lang="en-GB" altLang="en-US" sz="2000">
                <a:sym typeface="+mn-ea"/>
              </a:rPr>
              <a:t>O</a:t>
            </a:r>
            <a:r>
              <a:rPr lang="en-US" altLang="en-GB" sz="2000">
                <a:sym typeface="+mn-ea"/>
              </a:rPr>
              <a:t>n your phone or computer, search for available Bluetooth devices.You should see </a:t>
            </a:r>
            <a:endParaRPr lang="en-US" altLang="en-GB" sz="2000">
              <a:sym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     </a:t>
            </a:r>
            <a:r>
              <a:rPr lang="en-US" altLang="en-GB" sz="2000">
                <a:sym typeface="+mn-ea"/>
              </a:rPr>
              <a:t>something like "TG113" appear.Tap to pair. </a:t>
            </a:r>
            <a:endParaRPr lang="en-US" altLang="en-GB" sz="2000">
              <a:sym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     </a:t>
            </a:r>
            <a:r>
              <a:rPr lang="en-US" altLang="en-GB" sz="2000">
                <a:sym typeface="+mn-ea"/>
              </a:rPr>
              <a:t>Play audio from your device.The board receives the audio over Bluetooth and sends the</a:t>
            </a:r>
            <a:endParaRPr lang="en-US" altLang="en-GB" sz="2000">
              <a:sym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    </a:t>
            </a:r>
            <a:r>
              <a:rPr lang="en-US" altLang="en-GB" sz="2000">
                <a:sym typeface="+mn-ea"/>
              </a:rPr>
              <a:t> signal to the amplifier.The amplified signal drives the speaker, and you hear sound.</a:t>
            </a:r>
            <a:endParaRPr lang="en-US" altLang="en-GB" sz="2000">
              <a:sym typeface="+mn-ea"/>
            </a:endParaRPr>
          </a:p>
          <a:p>
            <a:pPr marL="0" indent="0">
              <a:buNone/>
            </a:pPr>
            <a:endParaRPr lang="en-US" altLang="en-GB" sz="2000">
              <a:sym typeface="+mn-ea"/>
            </a:endParaRPr>
          </a:p>
          <a:p>
            <a:pPr marL="0" indent="0">
              <a:buNone/>
            </a:pPr>
            <a:r>
              <a:rPr lang="en-GB" altLang="en-US" sz="2400" b="1">
                <a:sym typeface="+mn-ea"/>
              </a:rPr>
              <a:t>       </a:t>
            </a:r>
            <a:endParaRPr lang="en-US" altLang="en-GB" sz="2400" b="1"/>
          </a:p>
          <a:p>
            <a:endParaRPr lang="en-GB" altLang="en-US" sz="2400" b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                    PIN CONNECTIONS</a:t>
            </a:r>
            <a:endParaRPr lang="en-GB" altLang="en-US" b="1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5" name="Content Placeholder 4"/>
          <p:cNvSpPr/>
          <p:nvPr>
            <p:ph idx="1"/>
          </p:nvPr>
        </p:nvSpPr>
        <p:spPr>
          <a:xfrm>
            <a:off x="609600" y="999490"/>
            <a:ext cx="10972800" cy="5588635"/>
          </a:xfrm>
        </p:spPr>
        <p:txBody>
          <a:bodyPr/>
          <a:p>
            <a:pPr marL="0" indent="0">
              <a:buNone/>
            </a:pPr>
            <a:r>
              <a:rPr lang="en-US" altLang="en-GB" sz="2000" b="1"/>
              <a:t>Motor Driver to NodeMCU Connections:</a:t>
            </a:r>
            <a:endParaRPr lang="en-US" altLang="en-GB" sz="2000" b="1"/>
          </a:p>
          <a:p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</a:t>
            </a:r>
            <a:r>
              <a:rPr lang="en-US" altLang="en-GB" sz="2000">
                <a:sym typeface="+mn-ea"/>
              </a:rPr>
              <a:t>ENA (Enable A) on the L298N should be connected to D5 (GPIO14) on the NodeMCU. 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>
                <a:sym typeface="+mn-ea"/>
              </a:rPr>
              <a:t> </a:t>
            </a:r>
            <a:r>
              <a:rPr lang="en-GB" altLang="en-US" sz="2000">
                <a:sym typeface="+mn-ea"/>
              </a:rPr>
              <a:t>      </a:t>
            </a:r>
            <a:r>
              <a:rPr lang="en-US" altLang="en-GB" sz="2000">
                <a:sym typeface="+mn-ea"/>
              </a:rPr>
              <a:t>This pin controls the speed of the left motor using PWM.</a:t>
            </a:r>
            <a:endParaRPr lang="en-US" altLang="en-GB" sz="2000"/>
          </a:p>
          <a:p>
            <a:r>
              <a:rPr lang="en-GB" altLang="en-US" sz="2000"/>
              <a:t>  </a:t>
            </a:r>
            <a:r>
              <a:rPr lang="en-US" altLang="en-GB" sz="2000"/>
              <a:t>IN1 on the L298N should be connected to D8 (GPIO15) on the NodeMCU.This is one of 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   t</a:t>
            </a:r>
            <a:r>
              <a:rPr lang="en-US" altLang="en-GB" sz="2000"/>
              <a:t>he direction control pins for the left motor.</a:t>
            </a:r>
            <a:endParaRPr lang="en-US" altLang="en-GB" sz="2000"/>
          </a:p>
          <a:p>
            <a:r>
              <a:rPr lang="en-GB" altLang="en-US" sz="2000"/>
              <a:t>  </a:t>
            </a:r>
            <a:r>
              <a:rPr lang="en-US" altLang="en-GB" sz="2000"/>
              <a:t>IN2 on the L298N should be connected to D7 (GPIO13) on the NodeMCU.This is the other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    </a:t>
            </a:r>
            <a:r>
              <a:rPr lang="en-US" altLang="en-GB" sz="2000"/>
              <a:t>direction control </a:t>
            </a:r>
            <a:r>
              <a:rPr lang="en-GB" altLang="en-US" sz="2000"/>
              <a:t> </a:t>
            </a:r>
            <a:r>
              <a:rPr lang="en-US" altLang="en-GB" sz="2000"/>
              <a:t>pin for the left motor.</a:t>
            </a:r>
            <a:endParaRPr lang="en-US" altLang="en-GB" sz="2000"/>
          </a:p>
          <a:p>
            <a:r>
              <a:rPr lang="en-GB" altLang="en-US" sz="2000"/>
              <a:t>  </a:t>
            </a:r>
            <a:r>
              <a:rPr lang="en-US" altLang="en-GB" sz="2000"/>
              <a:t>IN3 on the L298N should be connected to D4 (GPIO2) on the NodeMCU.This is one of the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/>
              <a:t>     </a:t>
            </a:r>
            <a:r>
              <a:rPr lang="en-US" altLang="en-GB" sz="2000"/>
              <a:t> </a:t>
            </a:r>
            <a:r>
              <a:rPr lang="en-GB" altLang="en-US" sz="2000"/>
              <a:t> </a:t>
            </a:r>
            <a:r>
              <a:rPr lang="en-US" altLang="en-GB" sz="2000"/>
              <a:t>direction control pins for the right motor.</a:t>
            </a:r>
            <a:endParaRPr lang="en-US" altLang="en-GB" sz="2000"/>
          </a:p>
          <a:p>
            <a:r>
              <a:rPr lang="en-GB" altLang="en-US" sz="2000"/>
              <a:t>  </a:t>
            </a:r>
            <a:r>
              <a:rPr lang="en-US" altLang="en-GB" sz="2000"/>
              <a:t>IN4 on the L298N should be connected to D3 (GPIO0) on the NodeMCU.This is the other</a:t>
            </a:r>
            <a:endParaRPr lang="en-US" altLang="en-GB" sz="2000"/>
          </a:p>
          <a:p>
            <a:pPr marL="0" indent="0">
              <a:buNone/>
            </a:pPr>
            <a:r>
              <a:rPr lang="en-US" altLang="en-GB" sz="2000"/>
              <a:t> </a:t>
            </a:r>
            <a:r>
              <a:rPr lang="en-GB" altLang="en-US" sz="2000"/>
              <a:t>      </a:t>
            </a:r>
            <a:r>
              <a:rPr lang="en-US" altLang="en-GB" sz="2000"/>
              <a:t>direction</a:t>
            </a:r>
            <a:r>
              <a:rPr lang="en-GB" altLang="en-US" sz="2000"/>
              <a:t> </a:t>
            </a:r>
            <a:r>
              <a:rPr lang="en-US" altLang="en-GB" sz="2000"/>
              <a:t>control pin for the right motor.</a:t>
            </a:r>
            <a:endParaRPr lang="en-US" altLang="en-GB" sz="2000"/>
          </a:p>
          <a:p>
            <a:r>
              <a:rPr lang="en-GB" altLang="en-US" sz="2000"/>
              <a:t> </a:t>
            </a:r>
            <a:r>
              <a:rPr lang="en-US" altLang="en-GB" sz="2000"/>
              <a:t> ENB (Enable B) on the L298N should be connected to D6 (GPIO12) on the NodeMCU.Thi</a:t>
            </a:r>
            <a:r>
              <a:rPr lang="en-GB" altLang="en-US" sz="2000"/>
              <a:t>s</a:t>
            </a:r>
            <a:endParaRPr lang="en-GB" altLang="en-US" sz="2000"/>
          </a:p>
          <a:p>
            <a:pPr marL="0" indent="0">
              <a:buNone/>
            </a:pPr>
            <a:r>
              <a:rPr lang="en-GB" altLang="en-US" sz="2000"/>
              <a:t>    </a:t>
            </a:r>
            <a:r>
              <a:rPr lang="en-US" altLang="en-GB" sz="2000"/>
              <a:t> </a:t>
            </a:r>
            <a:r>
              <a:rPr lang="en-GB" altLang="en-US" sz="2000"/>
              <a:t>  </a:t>
            </a:r>
            <a:r>
              <a:rPr lang="en-US" altLang="en-GB" sz="2000"/>
              <a:t>pin controls the speed of the right motor using PWM.</a:t>
            </a:r>
            <a:endParaRPr lang="en-US" altLang="en-GB" sz="2000"/>
          </a:p>
          <a:p>
            <a:endParaRPr lang="en-US" altLang="en-GB" sz="2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3570" y="190500"/>
            <a:ext cx="10972800" cy="6442075"/>
          </a:xfrm>
        </p:spPr>
        <p:txBody>
          <a:bodyPr/>
          <a:p>
            <a:pPr marL="0" indent="0">
              <a:buNone/>
            </a:pPr>
            <a:r>
              <a:rPr lang="en-GB" altLang="en-US" sz="2000" b="1"/>
              <a:t>Power Connections:</a:t>
            </a:r>
            <a:endParaRPr lang="en-GB" altLang="en-US" sz="2000"/>
          </a:p>
          <a:p>
            <a:r>
              <a:rPr lang="en-US" altLang="en-GB" sz="2000"/>
              <a:t>Connect the 5V pin of the NodeMCU to the 5V logic pin of the L298N (if you're powering the motors separately).</a:t>
            </a:r>
            <a:endParaRPr lang="en-US" altLang="en-GB" sz="2000"/>
          </a:p>
          <a:p>
            <a:r>
              <a:rPr lang="en-US" altLang="en-GB" sz="2000"/>
              <a:t>Connect the GND of the NodeMCU to the GND of the L298N. This common ground is essential for the circuit to work correctly.</a:t>
            </a:r>
            <a:endParaRPr lang="en-US" altLang="en-GB" sz="2000"/>
          </a:p>
          <a:p>
            <a:r>
              <a:rPr lang="en-US" altLang="en-GB" sz="2000"/>
              <a:t>Power the motors by connecting an external battery (e.g., 6V–12V) to the 12V input on the L298N. Make sure the jumper on the ENA/ENB pins is removed if you're using PWM from NodeMCU.</a:t>
            </a:r>
            <a:endParaRPr lang="en-US" altLang="en-GB" sz="2000"/>
          </a:p>
          <a:p>
            <a:pPr marL="0" indent="0">
              <a:buNone/>
            </a:pPr>
            <a:r>
              <a:rPr lang="en-GB" altLang="en-US" sz="2000" b="1"/>
              <a:t> </a:t>
            </a:r>
            <a:r>
              <a:rPr lang="en-US" altLang="en-GB" sz="2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TG113 Board Pin Descriptions</a:t>
            </a:r>
            <a:r>
              <a:rPr lang="en-GB" altLang="en-US" sz="2000" b="1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</a:t>
            </a:r>
            <a:endParaRPr lang="en-US" altLang="en-GB" sz="2000" b="1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/>
            <a:r>
              <a:rPr lang="en-US" altLang="en-GB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Battery Connection (B+ and B-)</a:t>
            </a:r>
            <a:endParaRPr lang="en-US" altLang="en-GB" sz="2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GB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GB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altLang="en-GB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B+: Battery positive terminal </a:t>
            </a:r>
            <a:r>
              <a:rPr lang="en-GB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 the </a:t>
            </a:r>
            <a:r>
              <a:rPr lang="en-US" altLang="en-GB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red wire</a:t>
            </a:r>
            <a:r>
              <a:rPr lang="en-GB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of</a:t>
            </a:r>
            <a:r>
              <a:rPr lang="en-US" altLang="en-GB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the Li-ion battery</a:t>
            </a:r>
            <a:endParaRPr lang="en-US" altLang="en-GB" sz="2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GB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GB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altLang="en-GB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B-: Battery negative terminal </a:t>
            </a:r>
            <a:r>
              <a:rPr lang="en-GB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</a:t>
            </a:r>
            <a:r>
              <a:rPr lang="en-US" altLang="en-GB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black wire</a:t>
            </a:r>
            <a:r>
              <a:rPr lang="en-GB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GB" altLang="en-US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of</a:t>
            </a:r>
            <a:r>
              <a:rPr lang="en-US" altLang="en-GB" sz="20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the Li-ion battery</a:t>
            </a:r>
            <a:endParaRPr lang="en-US" altLang="en-GB" sz="20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GB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altLang="en-GB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These connect directly to the 3.7V Li-ion battery.</a:t>
            </a:r>
            <a:endParaRPr lang="en-US" altLang="en-GB" sz="2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/>
            <a:r>
              <a:rPr lang="en-GB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Speaker Connections  </a:t>
            </a:r>
            <a:endParaRPr lang="en-GB" altLang="en-US" sz="2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GB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SPK+ to the positive terminal of the speaker</a:t>
            </a:r>
            <a:endParaRPr lang="en-GB" altLang="en-US" sz="2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GB" altLang="en-US" sz="2000">
                <a:ln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SPK- to the negative terminal of the speaker</a:t>
            </a:r>
            <a:endParaRPr lang="en-US" altLang="en-GB" sz="2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endParaRPr lang="en-US" altLang="en-GB" sz="2000">
              <a:ln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US" altLang="en-GB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 </a:t>
            </a:r>
            <a:endParaRPr lang="en-US" altLang="en-GB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marL="0" indent="0">
              <a:buNone/>
            </a:pPr>
            <a:r>
              <a:rPr lang="en-US" altLang="en-GB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   </a:t>
            </a:r>
            <a:endParaRPr lang="en-US" altLang="en-GB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marL="0" indent="0">
              <a:buNone/>
            </a:pPr>
            <a:r>
              <a:rPr lang="en-US" altLang="en-GB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   </a:t>
            </a:r>
            <a:endParaRPr lang="en-US" altLang="en-GB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  <a:p>
            <a:pPr marL="0" indent="0">
              <a:buNone/>
            </a:pPr>
            <a:r>
              <a:rPr lang="en-US" altLang="en-GB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                         </a:t>
            </a:r>
            <a:endParaRPr lang="en-US" altLang="en-GB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09600" y="190500"/>
            <a:ext cx="5341620" cy="6667500"/>
          </a:xfrm>
        </p:spPr>
        <p:txBody>
          <a:bodyPr/>
          <a:p>
            <a:pPr marL="0" indent="0">
              <a:buNone/>
            </a:pPr>
            <a:r>
              <a:rPr lang="en-GB" altLang="en-US" sz="1800">
                <a:sym typeface="+mn-ea"/>
              </a:rPr>
              <a:t>SOURCE CODE:</a:t>
            </a:r>
            <a:endParaRPr lang="en-GB" altLang="en-US" sz="1800"/>
          </a:p>
          <a:p>
            <a:pPr marL="0" indent="0" algn="l">
              <a:buNone/>
            </a:pPr>
            <a:r>
              <a:rPr lang="en-GB" altLang="en-US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</a:t>
            </a:r>
            <a:r>
              <a:rPr lang="en-US" altLang="en-GB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#define ENA   14         </a:t>
            </a:r>
            <a:endParaRPr lang="en-US" altLang="en-GB"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 algn="l">
              <a:buNone/>
            </a:pPr>
            <a:r>
              <a:rPr lang="en-GB" altLang="en-US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</a:t>
            </a:r>
            <a:r>
              <a:rPr lang="en-US" altLang="en-GB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#define ENB   12          </a:t>
            </a:r>
            <a:endParaRPr lang="en-US" altLang="en-GB"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 algn="l">
              <a:buNone/>
            </a:pPr>
            <a:r>
              <a:rPr lang="en-GB" altLang="en-US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</a:t>
            </a:r>
            <a:r>
              <a:rPr lang="en-US" altLang="en-GB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#define IN_1  15          </a:t>
            </a:r>
            <a:endParaRPr lang="en-US" altLang="en-GB"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 algn="l">
              <a:buNone/>
            </a:pPr>
            <a:r>
              <a:rPr lang="en-GB" altLang="en-US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</a:t>
            </a:r>
            <a:r>
              <a:rPr lang="en-US" altLang="en-GB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#define IN_2  13          </a:t>
            </a:r>
            <a:endParaRPr lang="en-US" altLang="en-GB"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 algn="l">
              <a:buNone/>
            </a:pPr>
            <a:r>
              <a:rPr lang="en-GB" altLang="en-US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</a:t>
            </a:r>
            <a:r>
              <a:rPr lang="en-US" altLang="en-GB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#define IN_3  2           </a:t>
            </a:r>
            <a:endParaRPr lang="en-US" altLang="en-GB"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 algn="l">
              <a:buNone/>
            </a:pPr>
            <a:r>
              <a:rPr lang="en-GB" altLang="en-US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</a:t>
            </a:r>
            <a:r>
              <a:rPr lang="en-US" altLang="en-GB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#define IN_4  0           </a:t>
            </a:r>
            <a:r>
              <a:rPr lang="en-GB" altLang="en-US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</a:t>
            </a:r>
            <a:endParaRPr lang="en-GB" altLang="en-US"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 algn="l">
              <a:buNone/>
            </a:pPr>
            <a:r>
              <a:rPr lang="en-GB" altLang="en-US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</a:t>
            </a:r>
            <a:r>
              <a:rPr lang="en-US" altLang="en-GB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#include &lt;ESP8266WiFi.h&gt;</a:t>
            </a:r>
            <a:endParaRPr lang="en-US" altLang="en-GB"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GB" altLang="en-US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</a:t>
            </a:r>
            <a:r>
              <a:rPr lang="en-US" altLang="en-GB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#include &lt;WiFiClient.h&gt; </a:t>
            </a:r>
            <a:endParaRPr lang="en-US" altLang="en-GB" sz="1800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marL="0" indent="0">
              <a:buNone/>
            </a:pPr>
            <a:r>
              <a:rPr lang="en-GB" altLang="en-US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      </a:t>
            </a:r>
            <a:r>
              <a:rPr lang="en-US" altLang="en-GB" sz="180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#include &lt;ESP8266WebServer.h&gt;</a:t>
            </a:r>
            <a:endParaRPr lang="en-US" altLang="en-GB" sz="180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sym typeface="+mn-ea"/>
            </a:endParaRPr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String command;             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int speedCar = 800;         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int speed_Coeff = 3;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const char* ssid = "</a:t>
            </a:r>
            <a:r>
              <a:rPr lang="en-GB" altLang="en-US" sz="1800">
                <a:sym typeface="+mn-ea"/>
              </a:rPr>
              <a:t>WIFI CAR</a:t>
            </a:r>
            <a:r>
              <a:rPr lang="en-US" altLang="en-GB" sz="1800">
                <a:sym typeface="+mn-ea"/>
              </a:rPr>
              <a:t>";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ESP8266WebServer server(80);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void setup() {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</a:t>
            </a:r>
            <a:r>
              <a:rPr lang="en-GB" altLang="en-US" sz="1800">
                <a:sym typeface="+mn-ea"/>
              </a:rPr>
              <a:t>    </a:t>
            </a:r>
            <a:r>
              <a:rPr lang="en-US" altLang="en-GB" sz="1800">
                <a:sym typeface="+mn-ea"/>
              </a:rPr>
              <a:t>pinMode(ENA, OUTPUT);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</a:t>
            </a:r>
            <a:r>
              <a:rPr lang="en-US" altLang="en-GB" sz="1800">
                <a:sym typeface="+mn-ea"/>
              </a:rPr>
              <a:t> pinMode(ENB, OUTPUT);  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</a:t>
            </a:r>
            <a:r>
              <a:rPr lang="en-GB" altLang="en-US" sz="1800">
                <a:sym typeface="+mn-ea"/>
              </a:rPr>
              <a:t>    </a:t>
            </a:r>
            <a:r>
              <a:rPr lang="en-US" altLang="en-GB" sz="1800">
                <a:sym typeface="+mn-ea"/>
              </a:rPr>
              <a:t>pinMode(IN_1, OUTPUT);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</a:t>
            </a:r>
            <a:r>
              <a:rPr lang="en-US" altLang="en-GB" sz="1800">
                <a:sym typeface="+mn-ea"/>
              </a:rPr>
              <a:t> pinMode(IN_2, OUTPUT);</a:t>
            </a:r>
            <a:endParaRPr lang="en-US" altLang="en-GB" sz="1800"/>
          </a:p>
          <a:p>
            <a:endParaRPr lang="en-GB" altLang="en-US" sz="180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97600" y="0"/>
            <a:ext cx="5384800" cy="6127750"/>
          </a:xfrm>
        </p:spPr>
        <p:txBody>
          <a:bodyPr/>
          <a:p>
            <a:pPr marL="0" indent="0">
              <a:buNone/>
            </a:pPr>
            <a:r>
              <a:rPr lang="en-US" altLang="en-GB">
                <a:sym typeface="+mn-ea"/>
              </a:rPr>
              <a:t> </a:t>
            </a:r>
            <a:r>
              <a:rPr lang="en-US" altLang="en-GB" sz="1800">
                <a:sym typeface="+mn-ea"/>
              </a:rPr>
              <a:t>pinMode(IN_3, OUTPUT);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</a:t>
            </a:r>
            <a:r>
              <a:rPr lang="en-GB" altLang="en-US" sz="1800">
                <a:sym typeface="+mn-ea"/>
              </a:rPr>
              <a:t> </a:t>
            </a:r>
            <a:r>
              <a:rPr lang="en-US" altLang="en-GB" sz="1800">
                <a:sym typeface="+mn-ea"/>
              </a:rPr>
              <a:t>pinMode(IN_4, OUTPUT); 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</a:t>
            </a:r>
            <a:r>
              <a:rPr lang="en-US" altLang="en-GB" sz="1800">
                <a:sym typeface="+mn-ea"/>
              </a:rPr>
              <a:t>Serial.begin(115200);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</a:t>
            </a:r>
            <a:r>
              <a:rPr lang="en-US" altLang="en-GB" sz="1800">
                <a:sym typeface="+mn-ea"/>
              </a:rPr>
              <a:t>//Connecting WiFi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</a:t>
            </a:r>
            <a:r>
              <a:rPr lang="en-US" altLang="en-GB" sz="1800">
                <a:sym typeface="+mn-ea"/>
              </a:rPr>
              <a:t> WiFi.mode(WIFI_AP);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WiFi.softAP(ssid);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</a:t>
            </a:r>
            <a:r>
              <a:rPr lang="en-US" altLang="en-GB" sz="1800">
                <a:sym typeface="+mn-ea"/>
              </a:rPr>
              <a:t>IPAddress myIP = WiFi.softAPIP();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Serial.print("AP IP address: ");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Serial.println(myIP);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</a:t>
            </a:r>
            <a:r>
              <a:rPr lang="en-GB" altLang="en-US" sz="1800">
                <a:sym typeface="+mn-ea"/>
              </a:rPr>
              <a:t> </a:t>
            </a:r>
            <a:r>
              <a:rPr lang="en-US" altLang="en-GB" sz="1800">
                <a:sym typeface="+mn-ea"/>
              </a:rPr>
              <a:t>//Starting WEB-server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</a:t>
            </a:r>
            <a:r>
              <a:rPr lang="en-US" altLang="en-GB" sz="1800">
                <a:sym typeface="+mn-ea"/>
              </a:rPr>
              <a:t>server.on ( "/", HTTP_handleRoot 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server.onNotFound ( HTTP_handleRoot 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server.begin(); }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</a:t>
            </a:r>
            <a:r>
              <a:rPr lang="en-US" altLang="en-GB" sz="1800">
                <a:sym typeface="+mn-ea"/>
              </a:rPr>
              <a:t>void goAhead(){ 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digitalWrite(IN_1,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digitalWrite(IN_2, HIGH);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analogWrite(ENA, speed</a:t>
            </a:r>
            <a:r>
              <a:rPr lang="en-US" altLang="en-GB" sz="1800">
                <a:sym typeface="+mn-ea"/>
              </a:rPr>
              <a:t>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digitalWrite(IN_3,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digitalWrite(IN_4, HIGH);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analogWrite(ENB, speedCar); }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>
                <a:sym typeface="+mn-ea"/>
              </a:rPr>
              <a:t>     </a:t>
            </a:r>
            <a:endParaRPr lang="en-US" altLang="en-GB"/>
          </a:p>
          <a:p>
            <a:pPr marL="0" indent="0">
              <a:buNone/>
            </a:pPr>
            <a:endParaRPr lang="en-US" altLang="en-GB"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GB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609600" y="635"/>
            <a:ext cx="5298440" cy="6856730"/>
          </a:xfrm>
        </p:spPr>
        <p:txBody>
          <a:bodyPr/>
          <a:p>
            <a:pPr marL="0" indent="0">
              <a:buNone/>
            </a:pPr>
            <a:r>
              <a:rPr lang="en-US" altLang="en-GB" sz="1800"/>
              <a:t> </a:t>
            </a:r>
            <a:r>
              <a:rPr lang="en-US" altLang="en-GB" sz="1800">
                <a:sym typeface="+mn-ea"/>
              </a:rPr>
              <a:t>void goBack(){ 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 digitalWrite(IN_1, HIGH);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digitalWrite(IN_2,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analogWrite(ENA, speedCar);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</a:t>
            </a:r>
            <a:r>
              <a:rPr lang="en-GB" altLang="en-US" sz="18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digitalWrite(IN_3, HIGH);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digitalWrite(IN_4,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analogWrite(ENB, speedCar); }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void goRight(){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</a:t>
            </a:r>
            <a:r>
              <a:rPr lang="en-GB" altLang="en-US" sz="1800">
                <a:sym typeface="+mn-ea"/>
              </a:rPr>
              <a:t>    </a:t>
            </a:r>
            <a:r>
              <a:rPr lang="en-US" altLang="en-GB" sz="1800">
                <a:sym typeface="+mn-ea"/>
              </a:rPr>
              <a:t> digitalWrite(IN_1, HIGH);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digitalWrite(IN_2, LOW);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analogWrite(ENA, speedCar);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digitalWrite(IN_3, LOW);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</a:t>
            </a:r>
            <a:r>
              <a:rPr lang="en-US" altLang="en-GB" sz="1800">
                <a:sym typeface="+mn-ea"/>
              </a:rPr>
              <a:t>digitalWrite(IN_4, HIGH);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</a:t>
            </a:r>
            <a:r>
              <a:rPr lang="en-US" altLang="en-GB" sz="1800">
                <a:sym typeface="+mn-ea"/>
              </a:rPr>
              <a:t>analogWrite(ENB, speedCar);}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void goLeft(){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digitalWrite(IN_1, LOW);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digitalWrite(IN_2, HIGH);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analogWrite(ENA, speedCar);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8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 digitalWrite(IN_3, HIGH);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digitalWrite(IN_4, LOW);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analogWrite(ENB, speedCar);}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</a:t>
            </a:r>
            <a:endParaRPr lang="en-US" altLang="en-GB" sz="1800"/>
          </a:p>
          <a:p>
            <a:pPr marL="0" indent="0">
              <a:buNone/>
            </a:pPr>
            <a:endParaRPr lang="en-US" altLang="en-GB" sz="180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>
          <a:xfrm>
            <a:off x="6197600" y="0"/>
            <a:ext cx="5384800" cy="6127750"/>
          </a:xfrm>
        </p:spPr>
        <p:txBody>
          <a:bodyPr/>
          <a:p>
            <a:pPr marL="0" indent="0">
              <a:buNone/>
            </a:pPr>
            <a:r>
              <a:rPr lang="en-US" altLang="en-GB" sz="1800">
                <a:sym typeface="+mn-ea"/>
              </a:rPr>
              <a:t>void goAheadRight(){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</a:t>
            </a:r>
            <a:r>
              <a:rPr lang="en-GB" altLang="en-US" sz="1800">
                <a:sym typeface="+mn-ea"/>
              </a:rPr>
              <a:t> </a:t>
            </a:r>
            <a:r>
              <a:rPr lang="en-US" altLang="en-GB" sz="1800">
                <a:sym typeface="+mn-ea"/>
              </a:rPr>
              <a:t>digitalWrite(IN_1,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digitalWrite(IN_2, HIGH);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analogWrite(ENA, speedCar/speed_Coeff);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digitalWrite(IN_3,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digitalWrite(IN_4, HIGH);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analogWrite(ENB, speedCar); }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void goAheadLeft(){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digitalWrite(IN_1,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digitalWrite(IN_2, HIGH);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analogWrite(ENA, speedCar);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digitalWrite(IN_3,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digitalWrite(IN_4, HIGH);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analogWrite(ENB, speedCar/speed_Coeff); }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void goBackRight(){ 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digitalWrite(IN_1, HIGH);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digitalWrite(IN_2, LOW);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analogWrite(ENA, speedCar/speed_Coeff);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digitalWrite(IN_3, HIGH);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digitalWrite(IN_4, LOW);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analogWrite(ENB, speedCar); }</a:t>
            </a:r>
            <a:endParaRPr lang="en-US" altLang="en-GB" sz="1800"/>
          </a:p>
          <a:p>
            <a:pPr marL="0" indent="0">
              <a:buNone/>
            </a:pPr>
            <a:endParaRPr lang="en-US" altLang="en-GB" sz="1800"/>
          </a:p>
          <a:p>
            <a:pPr marL="0" indent="0">
              <a:buNone/>
            </a:pPr>
            <a:endParaRPr lang="en-US" altLang="en-GB" sz="1800"/>
          </a:p>
          <a:p>
            <a:pPr marL="0" indent="0">
              <a:buNone/>
            </a:pPr>
            <a:r>
              <a:rPr lang="en-US" altLang="en-GB" sz="1800"/>
              <a:t>                  </a:t>
            </a:r>
            <a:endParaRPr lang="en-US" altLang="en-GB" sz="1800"/>
          </a:p>
          <a:p>
            <a:pPr marL="0" indent="0">
              <a:buNone/>
            </a:pPr>
            <a:endParaRPr lang="en-GB" altLang="en-US" sz="1800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90170"/>
            <a:ext cx="5355590" cy="6671945"/>
          </a:xfrm>
        </p:spPr>
        <p:txBody>
          <a:bodyPr/>
          <a:p>
            <a:pPr marL="0" indent="0">
              <a:buNone/>
            </a:pPr>
            <a:r>
              <a:rPr lang="en-US" altLang="en-GB" sz="1800">
                <a:sym typeface="+mn-ea"/>
              </a:rPr>
              <a:t>    </a:t>
            </a:r>
            <a:r>
              <a:rPr lang="en-GB" altLang="en-US" sz="1800">
                <a:sym typeface="+mn-ea"/>
              </a:rPr>
              <a:t> </a:t>
            </a:r>
            <a:r>
              <a:rPr lang="en-US" altLang="en-GB" sz="1800">
                <a:sym typeface="+mn-ea"/>
              </a:rPr>
              <a:t>void goBackLeft(){ 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digitalWrite(IN_1, HIGH);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digitalWrite(IN_2,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analogWrite(ENA, speedCar);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digitalWrite(IN_3, HIGH);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digitalWrite(IN_4,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analogWrite(ENB, speedCar/speed_Coeff); }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void stopRobot(){  </a:t>
            </a: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digitalWrite(IN_1,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digitalWrite(IN_2,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analogWrite(ENA, speedCar);</a:t>
            </a:r>
            <a:endParaRPr lang="en-US" altLang="en-GB" sz="1800">
              <a:sym typeface="+mn-ea"/>
            </a:endParaRPr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</a:t>
            </a:r>
            <a:r>
              <a:rPr lang="en-GB" altLang="en-US" sz="18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digitalWrite(IN_3,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digitalWrite(IN_4, LOW);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analogWrite(ENB, speedCar); }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void loop() {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server.handleClient();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command = server.arg("State");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if (command == "F") goAhead();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"B") goBack();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"L") goLeft();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"R") goRight();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  </a:t>
            </a:r>
            <a:endParaRPr lang="en-US" altLang="en-GB" sz="1800"/>
          </a:p>
          <a:p>
            <a:pPr marL="0" indent="0">
              <a:buNone/>
            </a:pPr>
            <a:r>
              <a:rPr lang="en-US" altLang="en-GB" sz="1800">
                <a:sym typeface="+mn-ea"/>
              </a:rPr>
              <a:t>     </a:t>
            </a:r>
            <a:endParaRPr lang="en-GB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90170"/>
            <a:ext cx="5385435" cy="6768465"/>
          </a:xfrm>
        </p:spPr>
        <p:txBody>
          <a:bodyPr/>
          <a:p>
            <a:pPr marL="0" indent="0">
              <a:lnSpc>
                <a:spcPct val="90000"/>
              </a:lnSpc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else if (command == "I") goAheadRight();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"G") goAheadLeft();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"J") goBackRight();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"H") goBackLeft();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"0") speedCar = 400;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"1") speedCar = 470;</a:t>
            </a:r>
            <a:endParaRPr lang="en-US" altLang="en-GB" sz="1800">
              <a:sym typeface="+mn-ea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else if (command == "2") speedCar = 540;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"3") speedCar = 610;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"4") speedCar = 680;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"5") speedCar = 750;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"6") speedCar = 820;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"7") speedCar = 890;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"8") speedCar = 960;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"9") speedCar = 1023;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else if (command == "S") stopRobot();}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800">
                <a:sym typeface="+mn-ea"/>
              </a:rPr>
              <a:t>      </a:t>
            </a:r>
            <a:r>
              <a:rPr lang="en-US" altLang="en-GB" sz="1800">
                <a:sym typeface="+mn-ea"/>
              </a:rPr>
              <a:t>void HTTP_handleRoot(void) {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800">
                <a:sym typeface="+mn-ea"/>
              </a:rPr>
              <a:t>       </a:t>
            </a:r>
            <a:r>
              <a:rPr lang="en-US" altLang="en-GB" sz="1800">
                <a:sym typeface="+mn-ea"/>
              </a:rPr>
              <a:t>if( server.hasArg("State") ){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     </a:t>
            </a:r>
            <a:r>
              <a:rPr lang="en-GB" altLang="en-US" sz="1800">
                <a:sym typeface="+mn-ea"/>
              </a:rPr>
              <a:t>     </a:t>
            </a:r>
            <a:r>
              <a:rPr lang="en-US" altLang="en-GB" sz="1800">
                <a:sym typeface="+mn-ea"/>
              </a:rPr>
              <a:t>Serial.println(server.arg("State"));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</a:t>
            </a:r>
            <a:r>
              <a:rPr lang="en-GB" altLang="en-US" sz="1800">
                <a:sym typeface="+mn-ea"/>
              </a:rPr>
              <a:t>        </a:t>
            </a:r>
            <a:r>
              <a:rPr lang="en-US" altLang="en-GB" sz="1800">
                <a:sym typeface="+mn-ea"/>
              </a:rPr>
              <a:t>}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</a:t>
            </a:r>
            <a:r>
              <a:rPr lang="en-GB" altLang="en-US" sz="1800">
                <a:sym typeface="+mn-ea"/>
              </a:rPr>
              <a:t>    </a:t>
            </a:r>
            <a:r>
              <a:rPr lang="en-US" altLang="en-GB" sz="1800">
                <a:sym typeface="+mn-ea"/>
              </a:rPr>
              <a:t>server.send ( 200, "text/html", "" 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US" altLang="en-GB" sz="1800">
                <a:sym typeface="+mn-ea"/>
              </a:rPr>
              <a:t>  </a:t>
            </a:r>
            <a:r>
              <a:rPr lang="en-GB" altLang="en-US" sz="1800">
                <a:sym typeface="+mn-ea"/>
              </a:rPr>
              <a:t>    </a:t>
            </a:r>
            <a:r>
              <a:rPr lang="en-US" altLang="en-GB" sz="1800">
                <a:sym typeface="+mn-ea"/>
              </a:rPr>
              <a:t>delay(1);</a:t>
            </a:r>
            <a:endParaRPr lang="en-US" altLang="en-GB" sz="1800"/>
          </a:p>
          <a:p>
            <a:pPr marL="0" indent="0">
              <a:lnSpc>
                <a:spcPct val="90000"/>
              </a:lnSpc>
              <a:buNone/>
            </a:pPr>
            <a:r>
              <a:rPr lang="en-GB" altLang="en-US" sz="1800">
                <a:sym typeface="+mn-ea"/>
              </a:rPr>
              <a:t>        </a:t>
            </a:r>
            <a:r>
              <a:rPr lang="en-US" altLang="en-GB" sz="1800">
                <a:sym typeface="+mn-ea"/>
              </a:rPr>
              <a:t>}</a:t>
            </a:r>
            <a:r>
              <a:rPr lang="en-GB" altLang="en-US" sz="1800">
                <a:sym typeface="+mn-ea"/>
              </a:rPr>
              <a:t> </a:t>
            </a:r>
            <a:endParaRPr lang="en-US" altLang="en-GB" sz="1800"/>
          </a:p>
          <a:p>
            <a:pPr marL="0" indent="0">
              <a:buNone/>
            </a:pPr>
            <a:endParaRPr lang="en-US" altLang="en-GB" sz="1800"/>
          </a:p>
          <a:p>
            <a:pPr marL="0" indent="0">
              <a:buNone/>
            </a:pPr>
            <a:endParaRPr lang="en-US" altLang="en-GB" sz="1800"/>
          </a:p>
          <a:p>
            <a:pPr marL="0" indent="0">
              <a:buNone/>
            </a:pPr>
            <a:r>
              <a:rPr lang="en-GB" altLang="en-US" sz="1800">
                <a:sym typeface="+mn-ea"/>
              </a:rPr>
              <a:t>  </a:t>
            </a:r>
            <a:endParaRPr lang="en-US" altLang="en-GB" sz="1800"/>
          </a:p>
          <a:p>
            <a:pPr marL="0" indent="0">
              <a:buNone/>
            </a:pPr>
            <a:endParaRPr lang="en-US" altLang="en-GB"/>
          </a:p>
          <a:p>
            <a:endParaRPr lang="en-GB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 sz="4000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CIRCUIT DIAGRAM</a:t>
            </a:r>
            <a:endParaRPr lang="en-GB" altLang="en-US" sz="4000" b="1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13" name="Content Placeholder 12" descr="WhatsApp Image 2025-03-25 at 22.12.03_f56e962f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40105" y="1368425"/>
            <a:ext cx="6874510" cy="5361940"/>
          </a:xfrm>
          <a:prstGeom prst="rect">
            <a:avLst/>
          </a:prstGeom>
        </p:spPr>
      </p:pic>
      <p:sp>
        <p:nvSpPr>
          <p:cNvPr id="11" name="Text Placeholder 10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endParaRPr lang="en-GB" altLang="en-US"/>
          </a:p>
        </p:txBody>
      </p:sp>
      <p:pic>
        <p:nvPicPr>
          <p:cNvPr id="14" name="Content Placeholder 13" descr="WhatsApp Image 2025-03-25 at 22.13.00_489aa858"/>
          <p:cNvPicPr>
            <a:picLocks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8173720" y="2404110"/>
            <a:ext cx="3312795" cy="271208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Title 10"/>
          <p:cNvSpPr>
            <a:spLocks noGrp="1" noChangeArrowheads="1"/>
          </p:cNvSpPr>
          <p:nvPr>
            <p:ph type="ctrTitle"/>
          </p:nvPr>
        </p:nvSpPr>
        <p:spPr>
          <a:xfrm>
            <a:off x="2063750" y="1889125"/>
            <a:ext cx="9441815" cy="1037590"/>
          </a:xfrm>
        </p:spPr>
        <p:txBody>
          <a:bodyPr/>
          <a:p>
            <a:pPr algn="ctr"/>
            <a:r>
              <a:rPr lang="en-GB" altLang="en-US" sz="4800" b="1">
                <a:ln/>
                <a:gradFill>
                  <a:gsLst>
                    <a:gs pos="21000">
                      <a:srgbClr val="53575C"/>
                    </a:gs>
                    <a:gs pos="88000">
                      <a:srgbClr val="C5C7CA"/>
                    </a:gs>
                  </a:gsLst>
                  <a:lin ang="5400000"/>
                </a:gradFill>
                <a:effectLst/>
              </a:rPr>
              <a:t>                           THANK YOUU!!</a:t>
            </a:r>
            <a:endParaRPr lang="en-GB" altLang="en-US" sz="4800" b="1">
              <a:ln/>
              <a:gradFill>
                <a:gsLst>
                  <a:gs pos="21000">
                    <a:srgbClr val="53575C"/>
                  </a:gs>
                  <a:gs pos="88000">
                    <a:srgbClr val="C5C7CA"/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2" name="Subtitle 11"/>
          <p:cNvSpPr>
            <a:spLocks noGrp="1" noChangeArrowheads="1"/>
          </p:cNvSpPr>
          <p:nvPr>
            <p:ph type="subTitle" idx="1"/>
          </p:nvPr>
        </p:nvSpPr>
        <p:spPr>
          <a:xfrm>
            <a:off x="2063750" y="2927350"/>
            <a:ext cx="9693910" cy="1752600"/>
          </a:xfrm>
        </p:spPr>
        <p:txBody>
          <a:bodyPr/>
          <a:p>
            <a:pPr algn="r"/>
            <a:r>
              <a:rPr lang="en-GB" altLang="en-US" sz="2400" b="1">
                <a:ln/>
                <a:solidFill>
                  <a:schemeClr val="accent6">
                    <a:lumMod val="50000"/>
                  </a:schemeClr>
                </a:solidFill>
                <a:effectLst/>
              </a:rPr>
              <a:t>THIS CONCLUDES OUR PROJECT PRESENTATION.</a:t>
            </a:r>
            <a:endParaRPr lang="en-GB" altLang="en-US" sz="2400" b="1">
              <a:ln/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r"/>
            <a:r>
              <a:rPr lang="en-GB" altLang="en-US" sz="2400" b="1">
                <a:ln/>
                <a:solidFill>
                  <a:schemeClr val="accent6">
                    <a:lumMod val="50000"/>
                  </a:schemeClr>
                </a:solidFill>
                <a:effectLst/>
              </a:rPr>
              <a:t>                THIS WAS A COLLABORATIVE EFFORT BY OUR TEAM:</a:t>
            </a:r>
            <a:endParaRPr lang="en-GB" altLang="en-US" sz="2400" b="1">
              <a:ln/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r"/>
            <a:r>
              <a:rPr lang="en-GB" altLang="en-US" sz="2400" b="1">
                <a:ln/>
                <a:solidFill>
                  <a:schemeClr val="accent6">
                    <a:lumMod val="50000"/>
                  </a:schemeClr>
                </a:solidFill>
                <a:effectLst/>
              </a:rPr>
              <a:t>S.NAGI REDDY(O210096)</a:t>
            </a:r>
            <a:endParaRPr lang="en-GB" altLang="en-US" sz="2400" b="1">
              <a:ln/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r"/>
            <a:r>
              <a:rPr lang="en-GB" altLang="en-US" sz="2400" b="1">
                <a:ln/>
                <a:solidFill>
                  <a:schemeClr val="accent6">
                    <a:lumMod val="50000"/>
                  </a:schemeClr>
                </a:solidFill>
                <a:effectLst/>
              </a:rPr>
              <a:t>K.MAHESH CHANDRA(O210108)</a:t>
            </a:r>
            <a:endParaRPr lang="en-GB" altLang="en-US" sz="2400" b="1">
              <a:ln/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r"/>
            <a:r>
              <a:rPr lang="en-GB" altLang="en-US" sz="2400" b="1">
                <a:ln/>
                <a:solidFill>
                  <a:schemeClr val="accent6">
                    <a:lumMod val="50000"/>
                  </a:schemeClr>
                </a:solidFill>
                <a:effectLst/>
              </a:rPr>
              <a:t>G.HEMANTH KUMAR(O210120)</a:t>
            </a:r>
            <a:endParaRPr lang="en-GB" altLang="en-US" sz="2400" b="1">
              <a:ln/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r"/>
            <a:r>
              <a:rPr lang="en-GB" altLang="en-US" sz="2400" b="1">
                <a:ln/>
                <a:solidFill>
                  <a:schemeClr val="accent6">
                    <a:lumMod val="50000"/>
                  </a:schemeClr>
                </a:solidFill>
                <a:effectLst/>
              </a:rPr>
              <a:t>G.NANDINI(O210123)</a:t>
            </a:r>
            <a:endParaRPr lang="en-GB" altLang="en-US" sz="2400" b="1">
              <a:ln/>
              <a:solidFill>
                <a:schemeClr val="accent6">
                  <a:lumMod val="50000"/>
                </a:schemeClr>
              </a:solidFill>
              <a:effectLst/>
            </a:endParaRPr>
          </a:p>
          <a:p>
            <a:pPr algn="r"/>
            <a:r>
              <a:rPr lang="en-GB" altLang="en-US" sz="2400" b="1">
                <a:ln/>
                <a:solidFill>
                  <a:schemeClr val="accent6">
                    <a:lumMod val="50000"/>
                  </a:schemeClr>
                </a:solidFill>
                <a:effectLst/>
              </a:rPr>
              <a:t>CH.TANISHKA(O210126)</a:t>
            </a:r>
            <a:endParaRPr lang="en-GB" altLang="en-US" sz="2400" b="1">
              <a:ln/>
              <a:solidFill>
                <a:schemeClr val="accent6">
                  <a:lumMod val="75000"/>
                </a:schemeClr>
              </a:solidFill>
              <a:effectLst/>
            </a:endParaRPr>
          </a:p>
          <a:p>
            <a:pPr algn="r"/>
            <a:r>
              <a:rPr lang="en-GB" altLang="en-US"/>
              <a:t>	 </a:t>
            </a:r>
            <a:endParaRPr lang="en-GB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8166_2*o_h_i*1_3_1"/>
  <p:tag name="KSO_WM_TEMPLATE_CATEGORY" val="diagram"/>
  <p:tag name="KSO_WM_TEMPLATE_INDEX" val="20238166"/>
  <p:tag name="KSO_WM_UNIT_LAYERLEVEL" val="1_1_1"/>
  <p:tag name="KSO_WM_TAG_VERSION" val="3.0"/>
  <p:tag name="KSO_WM_UNIT_TYPE" val="o_h_i"/>
  <p:tag name="KSO_WM_UNIT_INDEX" val="1_3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8166_2*o_h_i*1_1_1"/>
  <p:tag name="KSO_WM_TEMPLATE_CATEGORY" val="diagram"/>
  <p:tag name="KSO_WM_TEMPLATE_INDEX" val="20238166"/>
  <p:tag name="KSO_WM_UNIT_LAYERLEVEL" val="1_1_1"/>
  <p:tag name="KSO_WM_TAG_VERSION" val="3.0"/>
  <p:tag name="KSO_WM_UNIT_TYPE" val="o_h_i"/>
  <p:tag name="KSO_WM_UNIT_INDEX" val="1_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8166_2*o_h_i*1_2_1"/>
  <p:tag name="KSO_WM_TEMPLATE_CATEGORY" val="diagram"/>
  <p:tag name="KSO_WM_TEMPLATE_INDEX" val="20238166"/>
  <p:tag name="KSO_WM_UNIT_LAYERLEVEL" val="1_1_1"/>
  <p:tag name="KSO_WM_TAG_VERSION" val="3.0"/>
  <p:tag name="KSO_WM_UNIT_TYPE" val="o_h_i"/>
  <p:tag name="KSO_WM_UNIT_INDEX" val="1_2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1_1"/>
  <p:tag name="KSO_WM_UNIT_ID" val="diagram20238166_2*o_h_a*1_1_1"/>
  <p:tag name="KSO_WM_TEMPLATE_CATEGORY" val="diagram"/>
  <p:tag name="KSO_WM_TEMPLATE_INDEX" val="20238166"/>
  <p:tag name="KSO_WM_UNIT_LAYERLEVEL" val="1_1_1"/>
  <p:tag name="KSO_WM_TAG_VERSION" val="3.0"/>
  <p:tag name="KSO_WM_BEAUTIFY_FLAG" val="#wm#"/>
  <p:tag name="KSO_WM_UNIT_VALUE" val="2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TEXT_FILL_FORE_SCHEMECOLOR_INDEX" val="1"/>
  <p:tag name="KSO_WM_UNIT_TEXT_FILL_TYPE" val="1"/>
</p:tagLst>
</file>

<file path=ppt/tags/tag5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1_1"/>
  <p:tag name="KSO_WM_UNIT_ID" val="diagram20238166_2*o_h_f*1_1_1"/>
  <p:tag name="KSO_WM_TEMPLATE_CATEGORY" val="diagram"/>
  <p:tag name="KSO_WM_TEMPLATE_INDEX" val="20238166"/>
  <p:tag name="KSO_WM_UNIT_LAYERLEVEL" val="1_1_1"/>
  <p:tag name="KSO_WM_TAG_VERSION" val="3.0"/>
  <p:tag name="KSO_WM_BEAUTIFY_FLAG" val="#wm#"/>
  <p:tag name="KSO_WM_UNIT_VALUE" val="6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3_1"/>
  <p:tag name="KSO_WM_UNIT_ID" val="diagram20238166_2*o_h_a*1_3_1"/>
  <p:tag name="KSO_WM_TEMPLATE_CATEGORY" val="diagram"/>
  <p:tag name="KSO_WM_TEMPLATE_INDEX" val="20238166"/>
  <p:tag name="KSO_WM_UNIT_LAYERLEVEL" val="1_1_1"/>
  <p:tag name="KSO_WM_TAG_VERSION" val="3.0"/>
  <p:tag name="KSO_WM_BEAUTIFY_FLAG" val="#wm#"/>
  <p:tag name="KSO_WM_UNIT_VALUE" val="26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TEXT_FILL_FORE_SCHEMECOLOR_INDEX" val="1"/>
  <p:tag name="KSO_WM_UNIT_TEXT_FILL_TYPE" val="1"/>
</p:tagLst>
</file>

<file path=ppt/tags/tag7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3_1"/>
  <p:tag name="KSO_WM_UNIT_ID" val="diagram20238166_2*o_h_f*1_3_1"/>
  <p:tag name="KSO_WM_TEMPLATE_CATEGORY" val="diagram"/>
  <p:tag name="KSO_WM_TEMPLATE_INDEX" val="20238166"/>
  <p:tag name="KSO_WM_UNIT_LAYERLEVEL" val="1_1_1"/>
  <p:tag name="KSO_WM_TAG_VERSION" val="3.0"/>
  <p:tag name="KSO_WM_BEAUTIFY_FLAG" val="#wm#"/>
  <p:tag name="KSO_WM_UNIT_VALUE" val="6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</p:tagLst>
</file>

<file path=ppt/tags/tag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8166_2*o_i*1_1"/>
  <p:tag name="KSO_WM_TEMPLATE_CATEGORY" val="diagram"/>
  <p:tag name="KSO_WM_TEMPLATE_INDEX" val="20238166"/>
  <p:tag name="KSO_WM_UNIT_LAYERLEVEL" val="1_1"/>
  <p:tag name="KSO_WM_TAG_VERSION" val="3.0"/>
  <p:tag name="KSO_WM_UNIT_TYPE" val="o_i"/>
  <p:tag name="KSO_WM_UNIT_INDEX" val="1_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4"/>
  <p:tag name="KSO_WM_UNIT_FILL_FORE_SCHEMECOLOR_INDEX_BRIGHTNESS" val="0"/>
  <p:tag name="KSO_WM_UNIT_LINE_FORE_SCHEMECOLOR_INDEX" val="5"/>
</p:tagLst>
</file>

<file path=ppt/tags/tag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8166_2*o_h_i*1_3_2"/>
  <p:tag name="KSO_WM_TEMPLATE_CATEGORY" val="diagram"/>
  <p:tag name="KSO_WM_TEMPLATE_INDEX" val="20238166"/>
  <p:tag name="KSO_WM_UNIT_LAYERLEVEL" val="1_1_1"/>
  <p:tag name="KSO_WM_TAG_VERSION" val="3.0"/>
  <p:tag name="KSO_WM_UNIT_SUBTYPE" val="d"/>
  <p:tag name="KSO_WM_UNIT_TYPE" val="o_h_i"/>
  <p:tag name="KSO_WM_UNIT_INDEX" val="1_3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0.6600000262260437,&quot;transparency&quot;:0.20000000298023224},{&quot;brightness&quot;:0,&quot;colorType&quot;:1,&quot;foreColorIndex&quot;:5,&quot;pos&quot;:1,&quot;transparency&quot;:0.15000000596046448}],&quot;type&quot;:3},&quot;glow&quot;:{&quot;colorType&quot;:0},&quot;line&quot;:{&quot;gradient&quot;:[{&quot;brightness&quot;:0.949999988079071,&quot;colorType&quot;:1,&quot;foreColorIndex&quot;:5,&quot;pos&quot;:0.3700000047683716,&quot;transparency&quot;:0.30000001192092896},{&quot;brightness&quot;:0.550000011920929,&quot;colorType&quot;:1,&quot;foreColorIndex&quot;:5,&quot;pos&quot;:0,&quot;transparency&quot;:0.30000001192092896},{&quot;brightness&quot;:0,&quot;colorType&quot;:1,&quot;foreColorIndex&quot;:14,&quot;pos&quot;:1,&quot;transparency&quot;:0.30000001192092896},{&quot;brightness&quot;:0.699999988079071,&quot;colorType&quot;:1,&quot;foreColorIndex&quot;:5,&quot;pos&quot;:0.7099999785423279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3"/>
  <p:tag name="KSO_WM_UNIT_FILL_TYPE" val="3"/>
</p:tagLst>
</file>

<file path=ppt/tags/tag1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8166_2*o_h_i*1_2_2"/>
  <p:tag name="KSO_WM_TEMPLATE_CATEGORY" val="diagram"/>
  <p:tag name="KSO_WM_TEMPLATE_INDEX" val="20238166"/>
  <p:tag name="KSO_WM_UNIT_LAYERLEVEL" val="1_1_1"/>
  <p:tag name="KSO_WM_TAG_VERSION" val="3.0"/>
  <p:tag name="KSO_WM_UNIT_SUBTYPE" val="d"/>
  <p:tag name="KSO_WM_UNIT_TYPE" val="o_h_i"/>
  <p:tag name="KSO_WM_UNIT_INDEX" val="1_2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0.6600000262260437,&quot;transparency&quot;:0.30000001192092896},{&quot;brightness&quot;:0,&quot;colorType&quot;:1,&quot;foreColorIndex&quot;:5,&quot;pos&quot;:1,&quot;transparency&quot;:0.4000000059604645}],&quot;type&quot;:3},&quot;glow&quot;:{&quot;colorType&quot;:0},&quot;line&quot;:{&quot;gradient&quot;:[{&quot;brightness&quot;:0.949999988079071,&quot;colorType&quot;:1,&quot;foreColorIndex&quot;:5,&quot;pos&quot;:0.3700000047683716,&quot;transparency&quot;:0.30000001192092896},{&quot;brightness&quot;:0.550000011920929,&quot;colorType&quot;:1,&quot;foreColorIndex&quot;:5,&quot;pos&quot;:0,&quot;transparency&quot;:0.30000001192092896},{&quot;brightness&quot;:0,&quot;colorType&quot;:1,&quot;foreColorIndex&quot;:14,&quot;pos&quot;:1,&quot;transparency&quot;:0.30000001192092896},{&quot;brightness&quot;:0.699999988079071,&quot;colorType&quot;:1,&quot;foreColorIndex&quot;:5,&quot;pos&quot;:0.7099999785423279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FILL_TYPE" val="3"/>
</p:tagLst>
</file>

<file path=ppt/tags/tag1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8166_2*o_h_i*1_1_3"/>
  <p:tag name="KSO_WM_TEMPLATE_CATEGORY" val="diagram"/>
  <p:tag name="KSO_WM_TEMPLATE_INDEX" val="20238166"/>
  <p:tag name="KSO_WM_UNIT_LAYERLEVEL" val="1_1_1"/>
  <p:tag name="KSO_WM_TAG_VERSION" val="3.0"/>
  <p:tag name="KSO_WM_UNIT_TYPE" val="o_h_i"/>
  <p:tag name="KSO_WM_UNIT_INDEX" val="1_1_3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0.6600000262260437,&quot;transparency&quot;:0.6499999761581421},{&quot;brightness&quot;:0,&quot;colorType&quot;:1,&quot;foreColorIndex&quot;:5,&quot;pos&quot;:1,&quot;transparency&quot;:0.699999988079071}],&quot;type&quot;:3},&quot;glow&quot;:{&quot;colorType&quot;:0},&quot;line&quot;:{&quot;gradient&quot;:[{&quot;brightness&quot;:0.949999988079071,&quot;colorType&quot;:1,&quot;foreColorIndex&quot;:5,&quot;pos&quot;:0.3700000047683716,&quot;transparency&quot;:0.30000001192092896},{&quot;brightness&quot;:0.550000011920929,&quot;colorType&quot;:1,&quot;foreColorIndex&quot;:5,&quot;pos&quot;:0,&quot;transparency&quot;:0.30000001192092896},{&quot;brightness&quot;:0,&quot;colorType&quot;:1,&quot;foreColorIndex&quot;:14,&quot;pos&quot;:1,&quot;transparency&quot;:0.30000001192092896},{&quot;brightness&quot;:0.699999988079071,&quot;colorType&quot;:1,&quot;foreColorIndex&quot;:5,&quot;pos&quot;:0.7099999785423279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</p:tagLst>
</file>

<file path=ppt/tags/tag1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a"/>
  <p:tag name="KSO_WM_UNIT_INDEX" val="1_2_1"/>
  <p:tag name="KSO_WM_UNIT_ID" val="diagram20238166_2*o_h_a*1_2_1"/>
  <p:tag name="KSO_WM_TEMPLATE_CATEGORY" val="diagram"/>
  <p:tag name="KSO_WM_TEMPLATE_INDEX" val="20238166"/>
  <p:tag name="KSO_WM_UNIT_LAYERLEVEL" val="1_1_1"/>
  <p:tag name="KSO_WM_TAG_VERSION" val="3.0"/>
  <p:tag name="KSO_WM_BEAUTIFY_FLAG" val="#wm#"/>
  <p:tag name="KSO_WM_UNIT_VALUE" val="2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Title"/>
  <p:tag name="KSO_WM_UNIT_TEXT_FILL_FORE_SCHEMECOLOR_INDEX" val="1"/>
  <p:tag name="KSO_WM_UNIT_TEXT_FILL_TYPE" val="1"/>
</p:tagLst>
</file>

<file path=ppt/tags/tag13.xml><?xml version="1.0" encoding="utf-8"?>
<p:tagLst xmlns:p="http://schemas.openxmlformats.org/presentationml/2006/main"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TYPE" val="o_h_f"/>
  <p:tag name="KSO_WM_UNIT_INDEX" val="1_2_1"/>
  <p:tag name="KSO_WM_UNIT_ID" val="diagram20238166_2*o_h_f*1_2_1"/>
  <p:tag name="KSO_WM_TEMPLATE_CATEGORY" val="diagram"/>
  <p:tag name="KSO_WM_TEMPLATE_INDEX" val="20238166"/>
  <p:tag name="KSO_WM_UNIT_LAYERLEVEL" val="1_1_1"/>
  <p:tag name="KSO_WM_TAG_VERSION" val="3.0"/>
  <p:tag name="KSO_WM_BEAUTIFY_FLAG" val="#wm#"/>
  <p:tag name="KSO_WM_UNIT_VALUE" val="54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</p:tagLst>
</file>

<file path=ppt/tags/tag1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o1-1"/>
  <p:tag name="KSO_WM_UNIT_ID" val="diagram20238166_2*o_h_i*1_1_2"/>
  <p:tag name="KSO_WM_TEMPLATE_CATEGORY" val="diagram"/>
  <p:tag name="KSO_WM_TEMPLATE_INDEX" val="20238166"/>
  <p:tag name="KSO_WM_UNIT_LAYERLEVEL" val="1_1_1"/>
  <p:tag name="KSO_WM_TAG_VERSION" val="3.0"/>
  <p:tag name="KSO_WM_UNIT_SUBTYPE" val="d"/>
  <p:tag name="KSO_WM_UNIT_TYPE" val="o_h_i"/>
  <p:tag name="KSO_WM_UNIT_INDEX" val="1_1_2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9999389648435,&quot;left&quot;:54.75,&quot;top&quot;:132.75,&quot;width&quot;:850.4750061035156}"/>
  <p:tag name="KSO_WM_DIAGRAM_COLOR_MATCH_VALUE" val="{&quot;shape&quot;:{&quot;fill&quot;:{&quot;gradient&quot;:[{&quot;brightness&quot;:0,&quot;colorType&quot;:1,&quot;foreColorIndex&quot;:5,&quot;pos&quot;:0,&quot;transparency&quot;:0.800000011920929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4000000059604645,&quot;rgb&quot;:&quot;#ffffff&quot;,&quot;transparency&quot;:0},{&quot;brightness&quot;:0.550000011920929,&quot;colorType&quot;:1,&quot;foreColorIndex&quot;:5,&quot;pos&quot;:0,&quot;transparency&quot;:0.30000001192092896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.30000001192092896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FILL_TYPE" val="3"/>
</p:tagLst>
</file>

<file path=ppt/tags/tag15.xml><?xml version="1.0" encoding="utf-8"?>
<p:tagLst xmlns:p="http://schemas.openxmlformats.org/presentationml/2006/main">
  <p:tag name="resource_record_key" val="{&quot;70&quot;:[3321880]}"/>
</p:tagLst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12357</Words>
  <Application>WPS Presentation</Application>
  <PresentationFormat>Widescreen</PresentationFormat>
  <Paragraphs>374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8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Algerian</vt:lpstr>
      <vt:lpstr>Agency FB</vt:lpstr>
      <vt:lpstr>Arial Black</vt:lpstr>
      <vt:lpstr>Calisto MT</vt:lpstr>
      <vt:lpstr>Arial Narrow</vt:lpstr>
      <vt:lpstr>Arial Rounded MT Bold</vt:lpstr>
      <vt:lpstr>Bahnschrift SemiLight</vt:lpstr>
      <vt:lpstr>Bahnschrift SemiBold SemiCondensed</vt:lpstr>
      <vt:lpstr>Bahnschrift SemiCondensed</vt:lpstr>
      <vt:lpstr>Bahnschrift SemiLight Condensed</vt:lpstr>
      <vt:lpstr>Bahnschrift SemiLight SemiCondensed</vt:lpstr>
      <vt:lpstr>Baskerville Old Face</vt:lpstr>
      <vt:lpstr>Bauhaus 93</vt:lpstr>
      <vt:lpstr>Gear Drives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WIFI TALKING ROBOT</dc:title>
  <dc:creator/>
  <cp:lastModifiedBy>Tanishka Chowdary</cp:lastModifiedBy>
  <cp:revision>19</cp:revision>
  <dcterms:created xsi:type="dcterms:W3CDTF">2025-03-25T12:32:33Z</dcterms:created>
  <dcterms:modified xsi:type="dcterms:W3CDTF">2025-03-25T16:58:46Z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858CB64BCD3746AEB1AE9549BB3915E1_11</vt:lpwstr>
  </property>
  <property fmtid="{D5CDD505-2E9C-101B-9397-08002B2CF9AE}" pid="3" name="KSOProductBuildVer">
    <vt:lpwstr>2057-12.2.0.20326</vt:lpwstr>
  </property>
</Properties>
</file>